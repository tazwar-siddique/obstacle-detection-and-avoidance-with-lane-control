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9" r:id="rId8"/>
    <p:sldId id="271" r:id="rId9"/>
    <p:sldId id="272" r:id="rId10"/>
    <p:sldId id="273" r:id="rId11"/>
    <p:sldId id="274" r:id="rId12"/>
    <p:sldId id="270" r:id="rId13"/>
    <p:sldId id="262" r:id="rId14"/>
    <p:sldId id="266" r:id="rId15"/>
    <p:sldId id="267" r:id="rId16"/>
    <p:sldId id="268" r:id="rId17"/>
    <p:sldId id="263" r:id="rId18"/>
    <p:sldId id="264" r:id="rId19"/>
    <p:sldId id="265" r:id="rId20"/>
  </p:sldIdLst>
  <p:sldSz cx="18288000" cy="10287000"/>
  <p:notesSz cx="6858000" cy="9144000"/>
  <p:embeddedFontLst>
    <p:embeddedFont>
      <p:font typeface="Glacial Indifference Bold" panose="020B0604020202020204" charset="0"/>
      <p:regular r:id="rId22"/>
    </p:embeddedFont>
    <p:embeddedFont>
      <p:font typeface="Inter" panose="020B0604020202020204" charset="0"/>
      <p:regular r:id="rId23"/>
    </p:embeddedFont>
    <p:embeddedFont>
      <p:font typeface="Inter Bold" panose="020B0604020202020204" charset="0"/>
      <p:regular r:id="rId24"/>
    </p:embeddedFont>
    <p:embeddedFont>
      <p:font typeface="League Spartan" panose="020B0604020202020204" charset="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6" d="100"/>
          <a:sy n="56" d="100"/>
        </p:scale>
        <p:origin x="610" y="7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CC1D99-E4C6-4BA3-A705-427ACAA3DA60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D7C0A2-77A2-44E1-B455-27D34B6F81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4062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D7C0A2-77A2-44E1-B455-27D34B6F819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38764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svg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7" Type="http://schemas.openxmlformats.org/officeDocument/2006/relationships/hyperlink" Target="https://leadlifewell.com/blog/12-brilliant-ways-to-transform-your-thinking/" TargetMode="Externa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sv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svg"/><Relationship Id="rId4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media" Target="../media/media2.mp4"/><Relationship Id="rId7" Type="http://schemas.openxmlformats.org/officeDocument/2006/relationships/image" Target="../media/image30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29.png"/><Relationship Id="rId5" Type="http://schemas.openxmlformats.org/officeDocument/2006/relationships/slideLayout" Target="../slideLayouts/slideLayout7.xml"/><Relationship Id="rId4" Type="http://schemas.openxmlformats.org/officeDocument/2006/relationships/video" Target="../media/media2.mp4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media" Target="../media/media4.mp4"/><Relationship Id="rId7" Type="http://schemas.openxmlformats.org/officeDocument/2006/relationships/image" Target="../media/image32.png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6" Type="http://schemas.openxmlformats.org/officeDocument/2006/relationships/image" Target="../media/image31.png"/><Relationship Id="rId5" Type="http://schemas.openxmlformats.org/officeDocument/2006/relationships/slideLayout" Target="../slideLayouts/slideLayout7.xml"/><Relationship Id="rId4" Type="http://schemas.openxmlformats.org/officeDocument/2006/relationships/video" Target="../media/media4.mp4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6.jpeg"/><Relationship Id="rId4" Type="http://schemas.openxmlformats.org/officeDocument/2006/relationships/image" Target="../media/image35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eg"/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42.svg"/><Relationship Id="rId7" Type="http://schemas.openxmlformats.org/officeDocument/2006/relationships/image" Target="../media/image44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11" Type="http://schemas.openxmlformats.org/officeDocument/2006/relationships/image" Target="../media/image11.svg"/><Relationship Id="rId5" Type="http://schemas.openxmlformats.org/officeDocument/2006/relationships/image" Target="../media/image3.png"/><Relationship Id="rId10" Type="http://schemas.openxmlformats.org/officeDocument/2006/relationships/image" Target="../media/image10.png"/><Relationship Id="rId4" Type="http://schemas.openxmlformats.org/officeDocument/2006/relationships/image" Target="../media/image43.png"/><Relationship Id="rId9" Type="http://schemas.openxmlformats.org/officeDocument/2006/relationships/image" Target="../media/image46.sv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0.svg"/><Relationship Id="rId5" Type="http://schemas.openxmlformats.org/officeDocument/2006/relationships/image" Target="../media/image49.png"/><Relationship Id="rId4" Type="http://schemas.openxmlformats.org/officeDocument/2006/relationships/image" Target="../media/image4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3777"/>
            </a:stretch>
          </a:blipFill>
        </p:spPr>
      </p:sp>
      <p:grpSp>
        <p:nvGrpSpPr>
          <p:cNvPr id="3" name="Group 3"/>
          <p:cNvGrpSpPr/>
          <p:nvPr/>
        </p:nvGrpSpPr>
        <p:grpSpPr>
          <a:xfrm rot="-2211212">
            <a:off x="6399109" y="-3627896"/>
            <a:ext cx="12331803" cy="9917211"/>
            <a:chOff x="0" y="0"/>
            <a:chExt cx="3010359" cy="242092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010359" cy="2420925"/>
            </a:xfrm>
            <a:custGeom>
              <a:avLst/>
              <a:gdLst/>
              <a:ahLst/>
              <a:cxnLst/>
              <a:rect l="l" t="t" r="r" b="b"/>
              <a:pathLst>
                <a:path w="3010359" h="2420925">
                  <a:moveTo>
                    <a:pt x="37668" y="0"/>
                  </a:moveTo>
                  <a:lnTo>
                    <a:pt x="2972691" y="0"/>
                  </a:lnTo>
                  <a:cubicBezTo>
                    <a:pt x="2993495" y="0"/>
                    <a:pt x="3010359" y="16865"/>
                    <a:pt x="3010359" y="37668"/>
                  </a:cubicBezTo>
                  <a:lnTo>
                    <a:pt x="3010359" y="2383257"/>
                  </a:lnTo>
                  <a:cubicBezTo>
                    <a:pt x="3010359" y="2404060"/>
                    <a:pt x="2993495" y="2420925"/>
                    <a:pt x="2972691" y="2420925"/>
                  </a:cubicBezTo>
                  <a:lnTo>
                    <a:pt x="37668" y="2420925"/>
                  </a:lnTo>
                  <a:cubicBezTo>
                    <a:pt x="16865" y="2420925"/>
                    <a:pt x="0" y="2404060"/>
                    <a:pt x="0" y="2383257"/>
                  </a:cubicBezTo>
                  <a:lnTo>
                    <a:pt x="0" y="37668"/>
                  </a:lnTo>
                  <a:cubicBezTo>
                    <a:pt x="0" y="16865"/>
                    <a:pt x="16865" y="0"/>
                    <a:pt x="37668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9FA5C8">
                    <a:alpha val="80000"/>
                  </a:srgbClr>
                </a:gs>
                <a:gs pos="100000">
                  <a:srgbClr val="9FA5C8">
                    <a:alpha val="0"/>
                  </a:srgbClr>
                </a:gs>
              </a:gsLst>
              <a:lin ang="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3010359" cy="2468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 rot="-2211212">
            <a:off x="-4050422" y="-2470224"/>
            <a:ext cx="13638917" cy="14619563"/>
            <a:chOff x="0" y="0"/>
            <a:chExt cx="3329443" cy="356883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329443" cy="3568832"/>
            </a:xfrm>
            <a:custGeom>
              <a:avLst/>
              <a:gdLst/>
              <a:ahLst/>
              <a:cxnLst/>
              <a:rect l="l" t="t" r="r" b="b"/>
              <a:pathLst>
                <a:path w="3329443" h="3568832">
                  <a:moveTo>
                    <a:pt x="34058" y="0"/>
                  </a:moveTo>
                  <a:lnTo>
                    <a:pt x="3295385" y="0"/>
                  </a:lnTo>
                  <a:cubicBezTo>
                    <a:pt x="3304418" y="0"/>
                    <a:pt x="3313081" y="3588"/>
                    <a:pt x="3319468" y="9975"/>
                  </a:cubicBezTo>
                  <a:cubicBezTo>
                    <a:pt x="3325855" y="16363"/>
                    <a:pt x="3329443" y="25025"/>
                    <a:pt x="3329443" y="34058"/>
                  </a:cubicBezTo>
                  <a:lnTo>
                    <a:pt x="3329443" y="3534774"/>
                  </a:lnTo>
                  <a:cubicBezTo>
                    <a:pt x="3329443" y="3543807"/>
                    <a:pt x="3325855" y="3552470"/>
                    <a:pt x="3319468" y="3558857"/>
                  </a:cubicBezTo>
                  <a:cubicBezTo>
                    <a:pt x="3313081" y="3565244"/>
                    <a:pt x="3304418" y="3568832"/>
                    <a:pt x="3295385" y="3568832"/>
                  </a:cubicBezTo>
                  <a:lnTo>
                    <a:pt x="34058" y="3568832"/>
                  </a:lnTo>
                  <a:cubicBezTo>
                    <a:pt x="25025" y="3568832"/>
                    <a:pt x="16363" y="3565244"/>
                    <a:pt x="9975" y="3558857"/>
                  </a:cubicBezTo>
                  <a:cubicBezTo>
                    <a:pt x="3588" y="3552470"/>
                    <a:pt x="0" y="3543807"/>
                    <a:pt x="0" y="3534774"/>
                  </a:cubicBezTo>
                  <a:lnTo>
                    <a:pt x="0" y="34058"/>
                  </a:lnTo>
                  <a:cubicBezTo>
                    <a:pt x="0" y="25025"/>
                    <a:pt x="3588" y="16363"/>
                    <a:pt x="9975" y="9975"/>
                  </a:cubicBezTo>
                  <a:cubicBezTo>
                    <a:pt x="16363" y="3588"/>
                    <a:pt x="25025" y="0"/>
                    <a:pt x="34058" y="0"/>
                  </a:cubicBezTo>
                  <a:close/>
                </a:path>
              </a:pathLst>
            </a:custGeom>
            <a:solidFill>
              <a:srgbClr val="F7F8FA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3329443" cy="36164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 rot="-2211212">
            <a:off x="8281436" y="-8517903"/>
            <a:ext cx="12243504" cy="12243504"/>
            <a:chOff x="0" y="0"/>
            <a:chExt cx="2988804" cy="298880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988804" cy="2988804"/>
            </a:xfrm>
            <a:custGeom>
              <a:avLst/>
              <a:gdLst/>
              <a:ahLst/>
              <a:cxnLst/>
              <a:rect l="l" t="t" r="r" b="b"/>
              <a:pathLst>
                <a:path w="2988804" h="2988804">
                  <a:moveTo>
                    <a:pt x="37940" y="0"/>
                  </a:moveTo>
                  <a:lnTo>
                    <a:pt x="2950864" y="0"/>
                  </a:lnTo>
                  <a:cubicBezTo>
                    <a:pt x="2971818" y="0"/>
                    <a:pt x="2988804" y="16986"/>
                    <a:pt x="2988804" y="37940"/>
                  </a:cubicBezTo>
                  <a:lnTo>
                    <a:pt x="2988804" y="2950864"/>
                  </a:lnTo>
                  <a:cubicBezTo>
                    <a:pt x="2988804" y="2960927"/>
                    <a:pt x="2984807" y="2970577"/>
                    <a:pt x="2977692" y="2977692"/>
                  </a:cubicBezTo>
                  <a:cubicBezTo>
                    <a:pt x="2970577" y="2984807"/>
                    <a:pt x="2960927" y="2988804"/>
                    <a:pt x="2950864" y="2988804"/>
                  </a:cubicBezTo>
                  <a:lnTo>
                    <a:pt x="37940" y="2988804"/>
                  </a:lnTo>
                  <a:cubicBezTo>
                    <a:pt x="27877" y="2988804"/>
                    <a:pt x="18227" y="2984807"/>
                    <a:pt x="11112" y="2977692"/>
                  </a:cubicBezTo>
                  <a:cubicBezTo>
                    <a:pt x="3997" y="2970577"/>
                    <a:pt x="0" y="2960927"/>
                    <a:pt x="0" y="2950864"/>
                  </a:cubicBezTo>
                  <a:lnTo>
                    <a:pt x="0" y="37940"/>
                  </a:lnTo>
                  <a:cubicBezTo>
                    <a:pt x="0" y="27877"/>
                    <a:pt x="3997" y="18227"/>
                    <a:pt x="11112" y="11112"/>
                  </a:cubicBezTo>
                  <a:cubicBezTo>
                    <a:pt x="18227" y="3997"/>
                    <a:pt x="27877" y="0"/>
                    <a:pt x="37940" y="0"/>
                  </a:cubicBezTo>
                  <a:close/>
                </a:path>
              </a:pathLst>
            </a:custGeom>
            <a:solidFill>
              <a:srgbClr val="F7F8FA">
                <a:alpha val="69804"/>
              </a:srgbClr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2988804" cy="303642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 rot="-2211212">
            <a:off x="9360382" y="-6261112"/>
            <a:ext cx="9450317" cy="9748779"/>
            <a:chOff x="0" y="0"/>
            <a:chExt cx="2306950" cy="237980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306950" cy="2379808"/>
            </a:xfrm>
            <a:custGeom>
              <a:avLst/>
              <a:gdLst/>
              <a:ahLst/>
              <a:cxnLst/>
              <a:rect l="l" t="t" r="r" b="b"/>
              <a:pathLst>
                <a:path w="2306950" h="2379808">
                  <a:moveTo>
                    <a:pt x="49153" y="0"/>
                  </a:moveTo>
                  <a:lnTo>
                    <a:pt x="2257796" y="0"/>
                  </a:lnTo>
                  <a:cubicBezTo>
                    <a:pt x="2284943" y="0"/>
                    <a:pt x="2306950" y="22007"/>
                    <a:pt x="2306950" y="49153"/>
                  </a:cubicBezTo>
                  <a:lnTo>
                    <a:pt x="2306950" y="2330655"/>
                  </a:lnTo>
                  <a:cubicBezTo>
                    <a:pt x="2306950" y="2357801"/>
                    <a:pt x="2284943" y="2379808"/>
                    <a:pt x="2257796" y="2379808"/>
                  </a:cubicBezTo>
                  <a:lnTo>
                    <a:pt x="49153" y="2379808"/>
                  </a:lnTo>
                  <a:cubicBezTo>
                    <a:pt x="22007" y="2379808"/>
                    <a:pt x="0" y="2357801"/>
                    <a:pt x="0" y="2330655"/>
                  </a:cubicBezTo>
                  <a:lnTo>
                    <a:pt x="0" y="49153"/>
                  </a:lnTo>
                  <a:cubicBezTo>
                    <a:pt x="0" y="22007"/>
                    <a:pt x="22007" y="0"/>
                    <a:pt x="4915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6200" cap="rnd">
              <a:solidFill>
                <a:srgbClr val="4B548B"/>
              </a:solidFill>
              <a:prstDash val="solid"/>
              <a:round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2306950" cy="242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>
            <a:off x="10893258" y="4516606"/>
            <a:ext cx="9494986" cy="5348842"/>
          </a:xfrm>
          <a:custGeom>
            <a:avLst/>
            <a:gdLst/>
            <a:ahLst/>
            <a:cxnLst/>
            <a:rect l="l" t="t" r="r" b="b"/>
            <a:pathLst>
              <a:path w="9494986" h="5348842">
                <a:moveTo>
                  <a:pt x="0" y="0"/>
                </a:moveTo>
                <a:lnTo>
                  <a:pt x="9494985" y="0"/>
                </a:lnTo>
                <a:lnTo>
                  <a:pt x="9494985" y="5348842"/>
                </a:lnTo>
                <a:lnTo>
                  <a:pt x="0" y="534884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1028700" y="1170201"/>
            <a:ext cx="14775372" cy="19837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601"/>
              </a:lnSpc>
            </a:pPr>
            <a:r>
              <a:rPr lang="en-US" sz="7601" b="1" spc="152" dirty="0">
                <a:solidFill>
                  <a:srgbClr val="22263E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AVOIDING DUCKS AND OTHER OBSTACLES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28700" y="3463328"/>
            <a:ext cx="9864558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079"/>
              </a:lnSpc>
            </a:pPr>
            <a:r>
              <a:rPr lang="en-US" sz="3399" b="1" spc="339" dirty="0">
                <a:solidFill>
                  <a:srgbClr val="4B548B"/>
                </a:solidFill>
                <a:latin typeface="Inter Bold"/>
                <a:ea typeface="Inter Bold"/>
                <a:cs typeface="Inter Bold"/>
                <a:sym typeface="Inter Bold"/>
              </a:rPr>
              <a:t>EE483: INTRODUCTION TO ROBOTICS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28700" y="8284154"/>
            <a:ext cx="5234283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802" lvl="1" indent="-215901" algn="l">
              <a:lnSpc>
                <a:spcPts val="3000"/>
              </a:lnSpc>
              <a:buFont typeface="Arial"/>
              <a:buChar char="•"/>
            </a:pPr>
            <a:r>
              <a:rPr lang="en-US" sz="2400" spc="300" dirty="0">
                <a:solidFill>
                  <a:srgbClr val="22263E"/>
                </a:solidFill>
                <a:latin typeface="Inter"/>
                <a:ea typeface="Inter"/>
                <a:cs typeface="Inter"/>
                <a:sym typeface="Inter"/>
              </a:rPr>
              <a:t>Hariz Razali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28700" y="8889982"/>
            <a:ext cx="5234283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802" lvl="1" indent="-215901" algn="l">
              <a:lnSpc>
                <a:spcPts val="3000"/>
              </a:lnSpc>
              <a:buFont typeface="Arial"/>
              <a:buChar char="•"/>
            </a:pPr>
            <a:r>
              <a:rPr lang="en-US" sz="2400" spc="300" dirty="0">
                <a:solidFill>
                  <a:srgbClr val="22263E"/>
                </a:solidFill>
                <a:latin typeface="Inter"/>
                <a:ea typeface="Inter"/>
                <a:cs typeface="Inter"/>
                <a:sym typeface="Inter"/>
              </a:rPr>
              <a:t>Hamad </a:t>
            </a:r>
            <a:r>
              <a:rPr lang="en-US" sz="2400" spc="300" dirty="0" err="1">
                <a:solidFill>
                  <a:srgbClr val="22263E"/>
                </a:solidFill>
                <a:latin typeface="Inter"/>
                <a:ea typeface="Inter"/>
                <a:cs typeface="Inter"/>
                <a:sym typeface="Inter"/>
              </a:rPr>
              <a:t>Alkooheji</a:t>
            </a:r>
            <a:endParaRPr lang="en-US" sz="2400" spc="300" dirty="0">
              <a:solidFill>
                <a:srgbClr val="22263E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1028700" y="7677994"/>
            <a:ext cx="5234283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802" lvl="1" indent="-215901" algn="l">
              <a:lnSpc>
                <a:spcPts val="3000"/>
              </a:lnSpc>
              <a:buFont typeface="Arial"/>
              <a:buChar char="•"/>
            </a:pPr>
            <a:r>
              <a:rPr lang="en-US" sz="2400" spc="300" dirty="0">
                <a:solidFill>
                  <a:srgbClr val="22263E"/>
                </a:solidFill>
                <a:latin typeface="Inter"/>
                <a:ea typeface="Inter"/>
                <a:cs typeface="Inter"/>
                <a:sym typeface="Inter"/>
              </a:rPr>
              <a:t>Tazwar Siddique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28700" y="6991002"/>
            <a:ext cx="9864558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00"/>
              </a:lnSpc>
            </a:pPr>
            <a:r>
              <a:rPr lang="en-US" sz="2800" b="1" spc="250" dirty="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GROUP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245742" y="555625"/>
            <a:ext cx="9599287" cy="10795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000"/>
              </a:lnSpc>
            </a:pPr>
            <a:r>
              <a:rPr lang="en-US" sz="8000" b="1" spc="160">
                <a:solidFill>
                  <a:srgbClr val="4B548B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TABLE OF CONTENT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028700" y="2730340"/>
            <a:ext cx="7139117" cy="4190526"/>
            <a:chOff x="0" y="-9525"/>
            <a:chExt cx="9518822" cy="5587367"/>
          </a:xfrm>
        </p:grpSpPr>
        <p:sp>
          <p:nvSpPr>
            <p:cNvPr id="4" name="TextBox 4"/>
            <p:cNvSpPr txBox="1"/>
            <p:nvPr/>
          </p:nvSpPr>
          <p:spPr>
            <a:xfrm>
              <a:off x="0" y="-9525"/>
              <a:ext cx="1030228" cy="5683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</a:pPr>
              <a:r>
                <a:rPr lang="en-US" sz="2799" b="1" spc="279">
                  <a:solidFill>
                    <a:srgbClr val="9FA5C8"/>
                  </a:solidFill>
                  <a:latin typeface="Inter Bold"/>
                  <a:ea typeface="Inter Bold"/>
                  <a:cs typeface="Inter Bold"/>
                  <a:sym typeface="Inter Bold"/>
                </a:rPr>
                <a:t>01.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206252" y="-9525"/>
              <a:ext cx="8312570" cy="5683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</a:pPr>
              <a:r>
                <a:rPr lang="en-US" sz="2799" b="1" spc="279">
                  <a:solidFill>
                    <a:srgbClr val="22263E"/>
                  </a:solidFill>
                  <a:latin typeface="Inter Bold"/>
                  <a:ea typeface="Inter Bold"/>
                  <a:cs typeface="Inter Bold"/>
                  <a:sym typeface="Inter Bold"/>
                </a:rPr>
                <a:t>WHY THIS PROJECT?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206252" y="826982"/>
              <a:ext cx="8312570" cy="5683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</a:pPr>
              <a:r>
                <a:rPr lang="en-US" sz="2799" b="1" spc="279">
                  <a:solidFill>
                    <a:srgbClr val="22263E"/>
                  </a:solidFill>
                  <a:latin typeface="Inter Bold"/>
                  <a:ea typeface="Inter Bold"/>
                  <a:cs typeface="Inter Bold"/>
                  <a:sym typeface="Inter Bold"/>
                </a:rPr>
                <a:t>PROJECT DESCRIPTION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206252" y="1663489"/>
              <a:ext cx="8312570" cy="5683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</a:pPr>
              <a:r>
                <a:rPr lang="en-US" sz="2799" b="1" spc="279">
                  <a:solidFill>
                    <a:srgbClr val="22263E"/>
                  </a:solidFill>
                  <a:latin typeface="Inter Bold"/>
                  <a:ea typeface="Inter Bold"/>
                  <a:cs typeface="Inter Bold"/>
                  <a:sym typeface="Inter Bold"/>
                </a:rPr>
                <a:t>PROJECT GOALS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206252" y="2499996"/>
              <a:ext cx="8312570" cy="5683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</a:pPr>
              <a:r>
                <a:rPr lang="en-US" sz="2799" b="1" spc="279" dirty="0">
                  <a:solidFill>
                    <a:srgbClr val="22263E"/>
                  </a:solidFill>
                  <a:latin typeface="Inter Bold"/>
                  <a:ea typeface="Inter Bold"/>
                  <a:cs typeface="Inter Bold"/>
                  <a:sym typeface="Inter Bold"/>
                </a:rPr>
                <a:t>METHODOLOGY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206252" y="3336503"/>
              <a:ext cx="8312570" cy="5683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</a:pPr>
              <a:r>
                <a:rPr lang="en-US" sz="2799" b="1" spc="279" dirty="0">
                  <a:solidFill>
                    <a:srgbClr val="22263E"/>
                  </a:solidFill>
                  <a:latin typeface="Inter Bold"/>
                  <a:ea typeface="Inter Bold"/>
                  <a:cs typeface="Inter Bold"/>
                  <a:sym typeface="Inter Bold"/>
                </a:rPr>
                <a:t>RESULTS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206252" y="4173010"/>
              <a:ext cx="8312570" cy="5683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</a:pPr>
              <a:r>
                <a:rPr lang="en-US" sz="2799" b="1" spc="279">
                  <a:solidFill>
                    <a:srgbClr val="22263E"/>
                  </a:solidFill>
                  <a:latin typeface="Inter Bold"/>
                  <a:ea typeface="Inter Bold"/>
                  <a:cs typeface="Inter Bold"/>
                  <a:sym typeface="Inter Bold"/>
                </a:rPr>
                <a:t>CHALLENGES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206252" y="5009517"/>
              <a:ext cx="8312570" cy="5683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</a:pPr>
              <a:r>
                <a:rPr lang="en-US" sz="2799" b="1" spc="279" dirty="0">
                  <a:solidFill>
                    <a:srgbClr val="22263E"/>
                  </a:solidFill>
                  <a:latin typeface="Inter Bold"/>
                  <a:ea typeface="Inter Bold"/>
                  <a:cs typeface="Inter Bold"/>
                  <a:sym typeface="Inter Bold"/>
                </a:rPr>
                <a:t>FUTURE SCOPE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826982"/>
              <a:ext cx="1030228" cy="5683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</a:pPr>
              <a:r>
                <a:rPr lang="en-US" sz="2799" b="1" spc="279">
                  <a:solidFill>
                    <a:srgbClr val="9FA5C8"/>
                  </a:solidFill>
                  <a:latin typeface="Inter Bold"/>
                  <a:ea typeface="Inter Bold"/>
                  <a:cs typeface="Inter Bold"/>
                  <a:sym typeface="Inter Bold"/>
                </a:rPr>
                <a:t>02.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1663489"/>
              <a:ext cx="1030228" cy="5683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</a:pPr>
              <a:r>
                <a:rPr lang="en-US" sz="2799" b="1" spc="279">
                  <a:solidFill>
                    <a:srgbClr val="9FA5C8"/>
                  </a:solidFill>
                  <a:latin typeface="Inter Bold"/>
                  <a:ea typeface="Inter Bold"/>
                  <a:cs typeface="Inter Bold"/>
                  <a:sym typeface="Inter Bold"/>
                </a:rPr>
                <a:t>03.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2499996"/>
              <a:ext cx="1030228" cy="5683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</a:pPr>
              <a:r>
                <a:rPr lang="en-US" sz="2799" b="1" spc="279">
                  <a:solidFill>
                    <a:srgbClr val="9FA5C8"/>
                  </a:solidFill>
                  <a:latin typeface="Inter Bold"/>
                  <a:ea typeface="Inter Bold"/>
                  <a:cs typeface="Inter Bold"/>
                  <a:sym typeface="Inter Bold"/>
                </a:rPr>
                <a:t>04.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3336503"/>
              <a:ext cx="1030228" cy="5683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</a:pPr>
              <a:r>
                <a:rPr lang="en-US" sz="2799" b="1" spc="279">
                  <a:solidFill>
                    <a:srgbClr val="9FA5C8"/>
                  </a:solidFill>
                  <a:latin typeface="Inter Bold"/>
                  <a:ea typeface="Inter Bold"/>
                  <a:cs typeface="Inter Bold"/>
                  <a:sym typeface="Inter Bold"/>
                </a:rPr>
                <a:t>05.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4173010"/>
              <a:ext cx="1030228" cy="5683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</a:pPr>
              <a:r>
                <a:rPr lang="en-US" sz="2799" b="1" spc="279">
                  <a:solidFill>
                    <a:srgbClr val="9FA5C8"/>
                  </a:solidFill>
                  <a:latin typeface="Inter Bold"/>
                  <a:ea typeface="Inter Bold"/>
                  <a:cs typeface="Inter Bold"/>
                  <a:sym typeface="Inter Bold"/>
                </a:rPr>
                <a:t>06.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5009517"/>
              <a:ext cx="1030228" cy="5683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</a:pPr>
              <a:r>
                <a:rPr lang="en-US" sz="2799" b="1" spc="279" dirty="0">
                  <a:solidFill>
                    <a:srgbClr val="9FA5C8"/>
                  </a:solidFill>
                  <a:latin typeface="Inter Bold"/>
                  <a:ea typeface="Inter Bold"/>
                  <a:cs typeface="Inter Bold"/>
                  <a:sym typeface="Inter Bold"/>
                </a:rPr>
                <a:t>07.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3777"/>
            </a:stretch>
          </a:blipFill>
        </p:spPr>
      </p:sp>
      <p:grpSp>
        <p:nvGrpSpPr>
          <p:cNvPr id="3" name="Group 3"/>
          <p:cNvGrpSpPr/>
          <p:nvPr/>
        </p:nvGrpSpPr>
        <p:grpSpPr>
          <a:xfrm rot="-2211212">
            <a:off x="4584858" y="-3158670"/>
            <a:ext cx="12331803" cy="9917211"/>
            <a:chOff x="0" y="0"/>
            <a:chExt cx="3010359" cy="242092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010359" cy="2420925"/>
            </a:xfrm>
            <a:custGeom>
              <a:avLst/>
              <a:gdLst/>
              <a:ahLst/>
              <a:cxnLst/>
              <a:rect l="l" t="t" r="r" b="b"/>
              <a:pathLst>
                <a:path w="3010359" h="2420925">
                  <a:moveTo>
                    <a:pt x="37668" y="0"/>
                  </a:moveTo>
                  <a:lnTo>
                    <a:pt x="2972691" y="0"/>
                  </a:lnTo>
                  <a:cubicBezTo>
                    <a:pt x="2993495" y="0"/>
                    <a:pt x="3010359" y="16865"/>
                    <a:pt x="3010359" y="37668"/>
                  </a:cubicBezTo>
                  <a:lnTo>
                    <a:pt x="3010359" y="2383257"/>
                  </a:lnTo>
                  <a:cubicBezTo>
                    <a:pt x="3010359" y="2404060"/>
                    <a:pt x="2993495" y="2420925"/>
                    <a:pt x="2972691" y="2420925"/>
                  </a:cubicBezTo>
                  <a:lnTo>
                    <a:pt x="37668" y="2420925"/>
                  </a:lnTo>
                  <a:cubicBezTo>
                    <a:pt x="16865" y="2420925"/>
                    <a:pt x="0" y="2404060"/>
                    <a:pt x="0" y="2383257"/>
                  </a:cubicBezTo>
                  <a:lnTo>
                    <a:pt x="0" y="37668"/>
                  </a:lnTo>
                  <a:cubicBezTo>
                    <a:pt x="0" y="16865"/>
                    <a:pt x="16865" y="0"/>
                    <a:pt x="37668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9FA5C8">
                    <a:alpha val="80000"/>
                  </a:srgbClr>
                </a:gs>
                <a:gs pos="100000">
                  <a:srgbClr val="9FA5C8">
                    <a:alpha val="0"/>
                  </a:srgbClr>
                </a:gs>
              </a:gsLst>
              <a:lin ang="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3010359" cy="2468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 rot="-2211212">
            <a:off x="-2756674" y="-5363614"/>
            <a:ext cx="14388151" cy="15166807"/>
            <a:chOff x="0" y="0"/>
            <a:chExt cx="3512341" cy="370242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512341" cy="3702422"/>
            </a:xfrm>
            <a:custGeom>
              <a:avLst/>
              <a:gdLst/>
              <a:ahLst/>
              <a:cxnLst/>
              <a:rect l="l" t="t" r="r" b="b"/>
              <a:pathLst>
                <a:path w="3512341" h="3702422">
                  <a:moveTo>
                    <a:pt x="32285" y="0"/>
                  </a:moveTo>
                  <a:lnTo>
                    <a:pt x="3480057" y="0"/>
                  </a:lnTo>
                  <a:cubicBezTo>
                    <a:pt x="3497887" y="0"/>
                    <a:pt x="3512341" y="14454"/>
                    <a:pt x="3512341" y="32285"/>
                  </a:cubicBezTo>
                  <a:lnTo>
                    <a:pt x="3512341" y="3670137"/>
                  </a:lnTo>
                  <a:cubicBezTo>
                    <a:pt x="3512341" y="3678699"/>
                    <a:pt x="3508940" y="3686911"/>
                    <a:pt x="3502885" y="3692966"/>
                  </a:cubicBezTo>
                  <a:cubicBezTo>
                    <a:pt x="3496831" y="3699020"/>
                    <a:pt x="3488619" y="3702422"/>
                    <a:pt x="3480057" y="3702422"/>
                  </a:cubicBezTo>
                  <a:lnTo>
                    <a:pt x="32285" y="3702422"/>
                  </a:lnTo>
                  <a:cubicBezTo>
                    <a:pt x="14454" y="3702422"/>
                    <a:pt x="0" y="3687968"/>
                    <a:pt x="0" y="3670137"/>
                  </a:cubicBezTo>
                  <a:lnTo>
                    <a:pt x="0" y="32285"/>
                  </a:lnTo>
                  <a:cubicBezTo>
                    <a:pt x="0" y="23722"/>
                    <a:pt x="3401" y="15510"/>
                    <a:pt x="9456" y="9456"/>
                  </a:cubicBezTo>
                  <a:cubicBezTo>
                    <a:pt x="15510" y="3401"/>
                    <a:pt x="23722" y="0"/>
                    <a:pt x="32285" y="0"/>
                  </a:cubicBezTo>
                  <a:close/>
                </a:path>
              </a:pathLst>
            </a:custGeom>
            <a:solidFill>
              <a:srgbClr val="F7F8FA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3512341" cy="37500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 rot="-2211212">
            <a:off x="11468541" y="-10923824"/>
            <a:ext cx="13638917" cy="14619563"/>
            <a:chOff x="0" y="0"/>
            <a:chExt cx="3329443" cy="356883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329443" cy="3568832"/>
            </a:xfrm>
            <a:custGeom>
              <a:avLst/>
              <a:gdLst/>
              <a:ahLst/>
              <a:cxnLst/>
              <a:rect l="l" t="t" r="r" b="b"/>
              <a:pathLst>
                <a:path w="3329443" h="3568832">
                  <a:moveTo>
                    <a:pt x="34058" y="0"/>
                  </a:moveTo>
                  <a:lnTo>
                    <a:pt x="3295385" y="0"/>
                  </a:lnTo>
                  <a:cubicBezTo>
                    <a:pt x="3304418" y="0"/>
                    <a:pt x="3313081" y="3588"/>
                    <a:pt x="3319468" y="9975"/>
                  </a:cubicBezTo>
                  <a:cubicBezTo>
                    <a:pt x="3325855" y="16363"/>
                    <a:pt x="3329443" y="25025"/>
                    <a:pt x="3329443" y="34058"/>
                  </a:cubicBezTo>
                  <a:lnTo>
                    <a:pt x="3329443" y="3534774"/>
                  </a:lnTo>
                  <a:cubicBezTo>
                    <a:pt x="3329443" y="3543807"/>
                    <a:pt x="3325855" y="3552470"/>
                    <a:pt x="3319468" y="3558857"/>
                  </a:cubicBezTo>
                  <a:cubicBezTo>
                    <a:pt x="3313081" y="3565244"/>
                    <a:pt x="3304418" y="3568832"/>
                    <a:pt x="3295385" y="3568832"/>
                  </a:cubicBezTo>
                  <a:lnTo>
                    <a:pt x="34058" y="3568832"/>
                  </a:lnTo>
                  <a:cubicBezTo>
                    <a:pt x="25025" y="3568832"/>
                    <a:pt x="16363" y="3565244"/>
                    <a:pt x="9975" y="3558857"/>
                  </a:cubicBezTo>
                  <a:cubicBezTo>
                    <a:pt x="3588" y="3552470"/>
                    <a:pt x="0" y="3543807"/>
                    <a:pt x="0" y="3534774"/>
                  </a:cubicBezTo>
                  <a:lnTo>
                    <a:pt x="0" y="34058"/>
                  </a:lnTo>
                  <a:cubicBezTo>
                    <a:pt x="0" y="25025"/>
                    <a:pt x="3588" y="16363"/>
                    <a:pt x="9975" y="9975"/>
                  </a:cubicBezTo>
                  <a:cubicBezTo>
                    <a:pt x="16363" y="3588"/>
                    <a:pt x="25025" y="0"/>
                    <a:pt x="34058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3329443" cy="36164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028700" y="1276060"/>
            <a:ext cx="11256650" cy="1209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000"/>
              </a:lnSpc>
            </a:pPr>
            <a:r>
              <a:rPr lang="en-US" sz="9000" b="1" spc="179">
                <a:solidFill>
                  <a:srgbClr val="4B548B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WHY THIS PROJECT?</a:t>
            </a:r>
          </a:p>
        </p:txBody>
      </p:sp>
      <p:grpSp>
        <p:nvGrpSpPr>
          <p:cNvPr id="13" name="Group 13"/>
          <p:cNvGrpSpPr/>
          <p:nvPr/>
        </p:nvGrpSpPr>
        <p:grpSpPr>
          <a:xfrm rot="-2211212">
            <a:off x="13562841" y="-6303630"/>
            <a:ext cx="9450317" cy="9748779"/>
            <a:chOff x="0" y="0"/>
            <a:chExt cx="2306950" cy="2379808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306950" cy="2379808"/>
            </a:xfrm>
            <a:custGeom>
              <a:avLst/>
              <a:gdLst/>
              <a:ahLst/>
              <a:cxnLst/>
              <a:rect l="l" t="t" r="r" b="b"/>
              <a:pathLst>
                <a:path w="2306950" h="2379808">
                  <a:moveTo>
                    <a:pt x="49153" y="0"/>
                  </a:moveTo>
                  <a:lnTo>
                    <a:pt x="2257796" y="0"/>
                  </a:lnTo>
                  <a:cubicBezTo>
                    <a:pt x="2284943" y="0"/>
                    <a:pt x="2306950" y="22007"/>
                    <a:pt x="2306950" y="49153"/>
                  </a:cubicBezTo>
                  <a:lnTo>
                    <a:pt x="2306950" y="2330655"/>
                  </a:lnTo>
                  <a:cubicBezTo>
                    <a:pt x="2306950" y="2357801"/>
                    <a:pt x="2284943" y="2379808"/>
                    <a:pt x="2257796" y="2379808"/>
                  </a:cubicBezTo>
                  <a:lnTo>
                    <a:pt x="49153" y="2379808"/>
                  </a:lnTo>
                  <a:cubicBezTo>
                    <a:pt x="22007" y="2379808"/>
                    <a:pt x="0" y="2357801"/>
                    <a:pt x="0" y="2330655"/>
                  </a:cubicBezTo>
                  <a:lnTo>
                    <a:pt x="0" y="49153"/>
                  </a:lnTo>
                  <a:cubicBezTo>
                    <a:pt x="0" y="22007"/>
                    <a:pt x="22007" y="0"/>
                    <a:pt x="4915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6200" cap="rnd">
              <a:solidFill>
                <a:srgbClr val="4B548B"/>
              </a:solidFill>
              <a:prstDash val="solid"/>
              <a:round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47625"/>
              <a:ext cx="2306950" cy="242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15442" y="2707037"/>
            <a:ext cx="11695557" cy="33720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74981" lvl="1" indent="-237491" algn="just">
              <a:lnSpc>
                <a:spcPts val="3300"/>
              </a:lnSpc>
              <a:buFont typeface="Arial"/>
              <a:buChar char="•"/>
            </a:pPr>
            <a:r>
              <a:rPr lang="en-US" sz="2400" spc="330" dirty="0">
                <a:solidFill>
                  <a:srgbClr val="22263E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Obstacle avoidance is a core real-world autonomous driving challenge.</a:t>
            </a:r>
          </a:p>
          <a:p>
            <a:pPr algn="just">
              <a:lnSpc>
                <a:spcPts val="3300"/>
              </a:lnSpc>
            </a:pPr>
            <a:endParaRPr lang="en-US" sz="2400" spc="330" dirty="0">
              <a:solidFill>
                <a:srgbClr val="22263E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marL="474981" lvl="1" indent="-237491" algn="just">
              <a:lnSpc>
                <a:spcPts val="3300"/>
              </a:lnSpc>
              <a:buFont typeface="Arial"/>
              <a:buChar char="•"/>
            </a:pPr>
            <a:r>
              <a:rPr lang="en-US" sz="2400" spc="330" dirty="0">
                <a:solidFill>
                  <a:srgbClr val="22263E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Extends </a:t>
            </a:r>
            <a:r>
              <a:rPr lang="en-US" sz="2400" spc="330" dirty="0" err="1">
                <a:solidFill>
                  <a:srgbClr val="22263E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Duckiebot</a:t>
            </a:r>
            <a:r>
              <a:rPr lang="en-US" sz="2400" spc="330" dirty="0">
                <a:solidFill>
                  <a:srgbClr val="22263E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beyond simple lane following → toward full autonomy.</a:t>
            </a:r>
          </a:p>
          <a:p>
            <a:pPr algn="just">
              <a:lnSpc>
                <a:spcPts val="3300"/>
              </a:lnSpc>
            </a:pPr>
            <a:endParaRPr lang="en-US" sz="2400" spc="330" dirty="0">
              <a:solidFill>
                <a:srgbClr val="22263E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marL="474981" lvl="1" indent="-237491" algn="just">
              <a:lnSpc>
                <a:spcPts val="3300"/>
              </a:lnSpc>
              <a:buFont typeface="Arial"/>
              <a:buChar char="•"/>
            </a:pPr>
            <a:r>
              <a:rPr lang="en-US" sz="2400" spc="330" dirty="0">
                <a:solidFill>
                  <a:srgbClr val="22263E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Integrates all EE483 skills: perception, ROS nodes, control, PID, system integration</a:t>
            </a:r>
            <a:r>
              <a:rPr lang="en-US" sz="2200" spc="330" dirty="0">
                <a:solidFill>
                  <a:srgbClr val="22263E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190867" y="2138388"/>
            <a:ext cx="2785692" cy="5019264"/>
          </a:xfrm>
          <a:custGeom>
            <a:avLst/>
            <a:gdLst/>
            <a:ahLst/>
            <a:cxnLst/>
            <a:rect l="l" t="t" r="r" b="b"/>
            <a:pathLst>
              <a:path w="2785692" h="5019264">
                <a:moveTo>
                  <a:pt x="0" y="0"/>
                </a:moveTo>
                <a:lnTo>
                  <a:pt x="2785691" y="0"/>
                </a:lnTo>
                <a:lnTo>
                  <a:pt x="2785691" y="5019264"/>
                </a:lnTo>
                <a:lnTo>
                  <a:pt x="0" y="50192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8991848" y="2138388"/>
            <a:ext cx="2785692" cy="5019264"/>
          </a:xfrm>
          <a:custGeom>
            <a:avLst/>
            <a:gdLst/>
            <a:ahLst/>
            <a:cxnLst/>
            <a:rect l="l" t="t" r="r" b="b"/>
            <a:pathLst>
              <a:path w="2785692" h="5019264">
                <a:moveTo>
                  <a:pt x="0" y="0"/>
                </a:moveTo>
                <a:lnTo>
                  <a:pt x="2785691" y="0"/>
                </a:lnTo>
                <a:lnTo>
                  <a:pt x="2785691" y="5019264"/>
                </a:lnTo>
                <a:lnTo>
                  <a:pt x="0" y="50192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5441855" y="2288860"/>
            <a:ext cx="2283714" cy="2283714"/>
          </a:xfrm>
          <a:custGeom>
            <a:avLst/>
            <a:gdLst/>
            <a:ahLst/>
            <a:cxnLst/>
            <a:rect l="l" t="t" r="r" b="b"/>
            <a:pathLst>
              <a:path w="2283714" h="2283714">
                <a:moveTo>
                  <a:pt x="0" y="0"/>
                </a:moveTo>
                <a:lnTo>
                  <a:pt x="2283714" y="0"/>
                </a:lnTo>
                <a:lnTo>
                  <a:pt x="2283714" y="2283714"/>
                </a:lnTo>
                <a:lnTo>
                  <a:pt x="0" y="22837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9242836" y="3506163"/>
            <a:ext cx="2283714" cy="2283714"/>
          </a:xfrm>
          <a:custGeom>
            <a:avLst/>
            <a:gdLst/>
            <a:ahLst/>
            <a:cxnLst/>
            <a:rect l="l" t="t" r="r" b="b"/>
            <a:pathLst>
              <a:path w="2283714" h="2283714">
                <a:moveTo>
                  <a:pt x="0" y="0"/>
                </a:moveTo>
                <a:lnTo>
                  <a:pt x="2283714" y="0"/>
                </a:lnTo>
                <a:lnTo>
                  <a:pt x="2283714" y="2283714"/>
                </a:lnTo>
                <a:lnTo>
                  <a:pt x="0" y="22837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5936062" y="5371870"/>
            <a:ext cx="1295301" cy="1657985"/>
          </a:xfrm>
          <a:custGeom>
            <a:avLst/>
            <a:gdLst/>
            <a:ahLst/>
            <a:cxnLst/>
            <a:rect l="l" t="t" r="r" b="b"/>
            <a:pathLst>
              <a:path w="1295301" h="1657985">
                <a:moveTo>
                  <a:pt x="0" y="0"/>
                </a:moveTo>
                <a:lnTo>
                  <a:pt x="1295301" y="0"/>
                </a:lnTo>
                <a:lnTo>
                  <a:pt x="1295301" y="1657986"/>
                </a:lnTo>
                <a:lnTo>
                  <a:pt x="0" y="165798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5400000">
            <a:off x="6160795" y="4544786"/>
            <a:ext cx="845834" cy="398599"/>
          </a:xfrm>
          <a:custGeom>
            <a:avLst/>
            <a:gdLst/>
            <a:ahLst/>
            <a:cxnLst/>
            <a:rect l="l" t="t" r="r" b="b"/>
            <a:pathLst>
              <a:path w="845834" h="398599">
                <a:moveTo>
                  <a:pt x="0" y="0"/>
                </a:moveTo>
                <a:lnTo>
                  <a:pt x="845834" y="0"/>
                </a:lnTo>
                <a:lnTo>
                  <a:pt x="845834" y="398599"/>
                </a:lnTo>
                <a:lnTo>
                  <a:pt x="0" y="39859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9737043" y="5499667"/>
            <a:ext cx="1295301" cy="1657985"/>
          </a:xfrm>
          <a:custGeom>
            <a:avLst/>
            <a:gdLst/>
            <a:ahLst/>
            <a:cxnLst/>
            <a:rect l="l" t="t" r="r" b="b"/>
            <a:pathLst>
              <a:path w="1295301" h="1657985">
                <a:moveTo>
                  <a:pt x="0" y="0"/>
                </a:moveTo>
                <a:lnTo>
                  <a:pt x="1295301" y="0"/>
                </a:lnTo>
                <a:lnTo>
                  <a:pt x="1295301" y="1657985"/>
                </a:lnTo>
                <a:lnTo>
                  <a:pt x="0" y="165798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9737043" y="2138388"/>
            <a:ext cx="1295301" cy="1657985"/>
          </a:xfrm>
          <a:custGeom>
            <a:avLst/>
            <a:gdLst/>
            <a:ahLst/>
            <a:cxnLst/>
            <a:rect l="l" t="t" r="r" b="b"/>
            <a:pathLst>
              <a:path w="1295301" h="1657985">
                <a:moveTo>
                  <a:pt x="0" y="0"/>
                </a:moveTo>
                <a:lnTo>
                  <a:pt x="1295301" y="0"/>
                </a:lnTo>
                <a:lnTo>
                  <a:pt x="1295301" y="1657986"/>
                </a:lnTo>
                <a:lnTo>
                  <a:pt x="0" y="165798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rot="-10800000">
            <a:off x="11212774" y="6129360"/>
            <a:ext cx="845834" cy="398599"/>
          </a:xfrm>
          <a:custGeom>
            <a:avLst/>
            <a:gdLst/>
            <a:ahLst/>
            <a:cxnLst/>
            <a:rect l="l" t="t" r="r" b="b"/>
            <a:pathLst>
              <a:path w="845834" h="398599">
                <a:moveTo>
                  <a:pt x="0" y="0"/>
                </a:moveTo>
                <a:lnTo>
                  <a:pt x="845835" y="0"/>
                </a:lnTo>
                <a:lnTo>
                  <a:pt x="845835" y="398599"/>
                </a:lnTo>
                <a:lnTo>
                  <a:pt x="0" y="39859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rot="5400000">
            <a:off x="11635692" y="4643019"/>
            <a:ext cx="845834" cy="398599"/>
          </a:xfrm>
          <a:custGeom>
            <a:avLst/>
            <a:gdLst/>
            <a:ahLst/>
            <a:cxnLst/>
            <a:rect l="l" t="t" r="r" b="b"/>
            <a:pathLst>
              <a:path w="845834" h="398599">
                <a:moveTo>
                  <a:pt x="0" y="0"/>
                </a:moveTo>
                <a:lnTo>
                  <a:pt x="845834" y="0"/>
                </a:lnTo>
                <a:lnTo>
                  <a:pt x="845834" y="398600"/>
                </a:lnTo>
                <a:lnTo>
                  <a:pt x="0" y="3986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1212774" y="3231418"/>
            <a:ext cx="845834" cy="398599"/>
          </a:xfrm>
          <a:custGeom>
            <a:avLst/>
            <a:gdLst/>
            <a:ahLst/>
            <a:cxnLst/>
            <a:rect l="l" t="t" r="r" b="b"/>
            <a:pathLst>
              <a:path w="845834" h="398599">
                <a:moveTo>
                  <a:pt x="0" y="0"/>
                </a:moveTo>
                <a:lnTo>
                  <a:pt x="845835" y="0"/>
                </a:lnTo>
                <a:lnTo>
                  <a:pt x="845835" y="398599"/>
                </a:lnTo>
                <a:lnTo>
                  <a:pt x="0" y="39859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6921834" y="4842319"/>
            <a:ext cx="736524" cy="657348"/>
          </a:xfrm>
          <a:custGeom>
            <a:avLst/>
            <a:gdLst/>
            <a:ahLst/>
            <a:cxnLst/>
            <a:rect l="l" t="t" r="r" b="b"/>
            <a:pathLst>
              <a:path w="736524" h="657348">
                <a:moveTo>
                  <a:pt x="0" y="0"/>
                </a:moveTo>
                <a:lnTo>
                  <a:pt x="736524" y="0"/>
                </a:lnTo>
                <a:lnTo>
                  <a:pt x="736524" y="657348"/>
                </a:lnTo>
                <a:lnTo>
                  <a:pt x="0" y="65734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1065726" y="1831463"/>
            <a:ext cx="1139932" cy="914795"/>
          </a:xfrm>
          <a:custGeom>
            <a:avLst/>
            <a:gdLst/>
            <a:ahLst/>
            <a:cxnLst/>
            <a:rect l="l" t="t" r="r" b="b"/>
            <a:pathLst>
              <a:path w="1139932" h="914795">
                <a:moveTo>
                  <a:pt x="0" y="0"/>
                </a:moveTo>
                <a:lnTo>
                  <a:pt x="1139931" y="0"/>
                </a:lnTo>
                <a:lnTo>
                  <a:pt x="1139931" y="914795"/>
                </a:lnTo>
                <a:lnTo>
                  <a:pt x="0" y="91479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152400" y="8077182"/>
            <a:ext cx="15502776" cy="2087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4981" lvl="1" indent="-237491" algn="just">
              <a:lnSpc>
                <a:spcPts val="3300"/>
              </a:lnSpc>
              <a:buFont typeface="Arial"/>
              <a:buChar char="•"/>
            </a:pPr>
            <a:r>
              <a:rPr lang="en-US" sz="2200" spc="330" dirty="0">
                <a:solidFill>
                  <a:srgbClr val="22263E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Build a </a:t>
            </a:r>
            <a:r>
              <a:rPr lang="en-US" sz="2200" spc="330" dirty="0" err="1">
                <a:solidFill>
                  <a:srgbClr val="22263E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Duckiebot</a:t>
            </a:r>
            <a:r>
              <a:rPr lang="en-US" sz="2200" spc="330" dirty="0">
                <a:solidFill>
                  <a:srgbClr val="22263E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that can detect obstacles and avoid them safely.</a:t>
            </a:r>
          </a:p>
          <a:p>
            <a:pPr marL="474981" lvl="1" indent="-237491" algn="just">
              <a:lnSpc>
                <a:spcPts val="3300"/>
              </a:lnSpc>
              <a:buFont typeface="Arial"/>
              <a:buChar char="•"/>
            </a:pPr>
            <a:r>
              <a:rPr lang="en-US" sz="2200" spc="330" dirty="0">
                <a:solidFill>
                  <a:srgbClr val="22263E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Uses lane detection (Lab 2 &amp; 3) for road following.</a:t>
            </a:r>
          </a:p>
          <a:p>
            <a:pPr marL="474981" lvl="1" indent="-237491" algn="just">
              <a:lnSpc>
                <a:spcPts val="3300"/>
              </a:lnSpc>
              <a:buFont typeface="Arial"/>
              <a:buChar char="•"/>
            </a:pPr>
            <a:r>
              <a:rPr lang="en-US" sz="2200" spc="330" dirty="0">
                <a:solidFill>
                  <a:srgbClr val="22263E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Uses </a:t>
            </a:r>
            <a:r>
              <a:rPr lang="en-US" sz="2200" spc="330" dirty="0" err="1">
                <a:solidFill>
                  <a:srgbClr val="22263E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Duckietown</a:t>
            </a:r>
            <a:r>
              <a:rPr lang="en-US" sz="2200" spc="330" dirty="0">
                <a:solidFill>
                  <a:srgbClr val="22263E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object-detection + LiDAR sensor to detect ducks/robots.</a:t>
            </a:r>
          </a:p>
          <a:p>
            <a:pPr marL="474981" lvl="1" indent="-237491" algn="just">
              <a:lnSpc>
                <a:spcPts val="3300"/>
              </a:lnSpc>
              <a:buFont typeface="Arial"/>
              <a:buChar char="•"/>
            </a:pPr>
            <a:r>
              <a:rPr lang="en-US" sz="2200" spc="330" dirty="0">
                <a:solidFill>
                  <a:srgbClr val="22263E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Avoidance control performs stop/turn maneuver, then returns robot to the lane.</a:t>
            </a:r>
          </a:p>
          <a:p>
            <a:pPr marL="474981" lvl="1" indent="-237491" algn="just">
              <a:lnSpc>
                <a:spcPts val="3300"/>
              </a:lnSpc>
              <a:buFont typeface="Arial"/>
              <a:buChar char="•"/>
            </a:pPr>
            <a:r>
              <a:rPr lang="en-US" sz="2200" spc="330" dirty="0">
                <a:solidFill>
                  <a:srgbClr val="22263E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Goal: smooth, safe, fully autonomous navigation in a </a:t>
            </a:r>
            <a:r>
              <a:rPr lang="en-US" sz="2200" spc="330" dirty="0" err="1">
                <a:solidFill>
                  <a:srgbClr val="22263E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Duckiebot</a:t>
            </a:r>
            <a:r>
              <a:rPr lang="en-US" sz="2200" spc="330" dirty="0">
                <a:solidFill>
                  <a:srgbClr val="22263E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environment.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786660" y="647187"/>
            <a:ext cx="10912352" cy="10795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000"/>
              </a:lnSpc>
            </a:pPr>
            <a:r>
              <a:rPr lang="en-US" sz="8000" b="1" spc="160">
                <a:solidFill>
                  <a:srgbClr val="4B548B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PROJECT DESCRPTION</a:t>
            </a:r>
          </a:p>
        </p:txBody>
      </p:sp>
      <p:grpSp>
        <p:nvGrpSpPr>
          <p:cNvPr id="17" name="Group 17"/>
          <p:cNvGrpSpPr/>
          <p:nvPr/>
        </p:nvGrpSpPr>
        <p:grpSpPr>
          <a:xfrm rot="-2211212">
            <a:off x="13784089" y="8980678"/>
            <a:ext cx="6950422" cy="4493189"/>
            <a:chOff x="0" y="0"/>
            <a:chExt cx="1696691" cy="1096848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696691" cy="1096848"/>
            </a:xfrm>
            <a:custGeom>
              <a:avLst/>
              <a:gdLst/>
              <a:ahLst/>
              <a:cxnLst/>
              <a:rect l="l" t="t" r="r" b="b"/>
              <a:pathLst>
                <a:path w="1696691" h="1096848">
                  <a:moveTo>
                    <a:pt x="66833" y="0"/>
                  </a:moveTo>
                  <a:lnTo>
                    <a:pt x="1629859" y="0"/>
                  </a:lnTo>
                  <a:cubicBezTo>
                    <a:pt x="1647584" y="0"/>
                    <a:pt x="1664583" y="7041"/>
                    <a:pt x="1677117" y="19575"/>
                  </a:cubicBezTo>
                  <a:cubicBezTo>
                    <a:pt x="1689650" y="32108"/>
                    <a:pt x="1696691" y="49108"/>
                    <a:pt x="1696691" y="66833"/>
                  </a:cubicBezTo>
                  <a:lnTo>
                    <a:pt x="1696691" y="1030015"/>
                  </a:lnTo>
                  <a:cubicBezTo>
                    <a:pt x="1696691" y="1047740"/>
                    <a:pt x="1689650" y="1064740"/>
                    <a:pt x="1677117" y="1077273"/>
                  </a:cubicBezTo>
                  <a:cubicBezTo>
                    <a:pt x="1664583" y="1089807"/>
                    <a:pt x="1647584" y="1096848"/>
                    <a:pt x="1629859" y="1096848"/>
                  </a:cubicBezTo>
                  <a:lnTo>
                    <a:pt x="66833" y="1096848"/>
                  </a:lnTo>
                  <a:cubicBezTo>
                    <a:pt x="49108" y="1096848"/>
                    <a:pt x="32108" y="1089807"/>
                    <a:pt x="19575" y="1077273"/>
                  </a:cubicBezTo>
                  <a:cubicBezTo>
                    <a:pt x="7041" y="1064740"/>
                    <a:pt x="0" y="1047740"/>
                    <a:pt x="0" y="1030015"/>
                  </a:cubicBezTo>
                  <a:lnTo>
                    <a:pt x="0" y="66833"/>
                  </a:lnTo>
                  <a:cubicBezTo>
                    <a:pt x="0" y="49108"/>
                    <a:pt x="7041" y="32108"/>
                    <a:pt x="19575" y="19575"/>
                  </a:cubicBezTo>
                  <a:cubicBezTo>
                    <a:pt x="32108" y="7041"/>
                    <a:pt x="49108" y="0"/>
                    <a:pt x="66833" y="0"/>
                  </a:cubicBezTo>
                  <a:close/>
                </a:path>
              </a:pathLst>
            </a:custGeom>
            <a:solidFill>
              <a:srgbClr val="323B60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-47625"/>
              <a:ext cx="1696691" cy="11444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 rot="-2211212">
            <a:off x="-2305505" y="-1443650"/>
            <a:ext cx="4019963" cy="4493189"/>
            <a:chOff x="0" y="0"/>
            <a:chExt cx="981327" cy="1096848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981327" cy="1096848"/>
            </a:xfrm>
            <a:custGeom>
              <a:avLst/>
              <a:gdLst/>
              <a:ahLst/>
              <a:cxnLst/>
              <a:rect l="l" t="t" r="r" b="b"/>
              <a:pathLst>
                <a:path w="981327" h="1096848">
                  <a:moveTo>
                    <a:pt x="115552" y="0"/>
                  </a:moveTo>
                  <a:lnTo>
                    <a:pt x="865775" y="0"/>
                  </a:lnTo>
                  <a:cubicBezTo>
                    <a:pt x="896421" y="0"/>
                    <a:pt x="925812" y="12174"/>
                    <a:pt x="947482" y="33844"/>
                  </a:cubicBezTo>
                  <a:cubicBezTo>
                    <a:pt x="969153" y="55515"/>
                    <a:pt x="981327" y="84906"/>
                    <a:pt x="981327" y="115552"/>
                  </a:cubicBezTo>
                  <a:lnTo>
                    <a:pt x="981327" y="981296"/>
                  </a:lnTo>
                  <a:cubicBezTo>
                    <a:pt x="981327" y="1011942"/>
                    <a:pt x="969153" y="1041333"/>
                    <a:pt x="947482" y="1063004"/>
                  </a:cubicBezTo>
                  <a:cubicBezTo>
                    <a:pt x="925812" y="1084674"/>
                    <a:pt x="896421" y="1096848"/>
                    <a:pt x="865775" y="1096848"/>
                  </a:cubicBezTo>
                  <a:lnTo>
                    <a:pt x="115552" y="1096848"/>
                  </a:lnTo>
                  <a:cubicBezTo>
                    <a:pt x="84906" y="1096848"/>
                    <a:pt x="55515" y="1084674"/>
                    <a:pt x="33844" y="1063004"/>
                  </a:cubicBezTo>
                  <a:cubicBezTo>
                    <a:pt x="12174" y="1041333"/>
                    <a:pt x="0" y="1011942"/>
                    <a:pt x="0" y="981296"/>
                  </a:cubicBezTo>
                  <a:lnTo>
                    <a:pt x="0" y="115552"/>
                  </a:lnTo>
                  <a:cubicBezTo>
                    <a:pt x="0" y="84906"/>
                    <a:pt x="12174" y="55515"/>
                    <a:pt x="33844" y="33844"/>
                  </a:cubicBezTo>
                  <a:cubicBezTo>
                    <a:pt x="55515" y="12174"/>
                    <a:pt x="84906" y="0"/>
                    <a:pt x="11555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9FA5C8">
                    <a:alpha val="100000"/>
                  </a:srgbClr>
                </a:gs>
                <a:gs pos="100000">
                  <a:srgbClr val="9FA5C8">
                    <a:alpha val="0"/>
                  </a:srgbClr>
                </a:gs>
              </a:gsLst>
              <a:lin ang="0"/>
            </a:gradFill>
          </p:spPr>
        </p:sp>
        <p:sp>
          <p:nvSpPr>
            <p:cNvPr id="22" name="TextBox 22"/>
            <p:cNvSpPr txBox="1"/>
            <p:nvPr/>
          </p:nvSpPr>
          <p:spPr>
            <a:xfrm>
              <a:off x="0" y="-47625"/>
              <a:ext cx="981327" cy="11444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 rot="-2211212">
            <a:off x="-1449957" y="-3920233"/>
            <a:ext cx="6950422" cy="4493189"/>
            <a:chOff x="0" y="0"/>
            <a:chExt cx="1696691" cy="1096848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696691" cy="1096848"/>
            </a:xfrm>
            <a:custGeom>
              <a:avLst/>
              <a:gdLst/>
              <a:ahLst/>
              <a:cxnLst/>
              <a:rect l="l" t="t" r="r" b="b"/>
              <a:pathLst>
                <a:path w="1696691" h="1096848">
                  <a:moveTo>
                    <a:pt x="66833" y="0"/>
                  </a:moveTo>
                  <a:lnTo>
                    <a:pt x="1629859" y="0"/>
                  </a:lnTo>
                  <a:cubicBezTo>
                    <a:pt x="1647584" y="0"/>
                    <a:pt x="1664583" y="7041"/>
                    <a:pt x="1677117" y="19575"/>
                  </a:cubicBezTo>
                  <a:cubicBezTo>
                    <a:pt x="1689650" y="32108"/>
                    <a:pt x="1696691" y="49108"/>
                    <a:pt x="1696691" y="66833"/>
                  </a:cubicBezTo>
                  <a:lnTo>
                    <a:pt x="1696691" y="1030015"/>
                  </a:lnTo>
                  <a:cubicBezTo>
                    <a:pt x="1696691" y="1047740"/>
                    <a:pt x="1689650" y="1064740"/>
                    <a:pt x="1677117" y="1077273"/>
                  </a:cubicBezTo>
                  <a:cubicBezTo>
                    <a:pt x="1664583" y="1089807"/>
                    <a:pt x="1647584" y="1096848"/>
                    <a:pt x="1629859" y="1096848"/>
                  </a:cubicBezTo>
                  <a:lnTo>
                    <a:pt x="66833" y="1096848"/>
                  </a:lnTo>
                  <a:cubicBezTo>
                    <a:pt x="49108" y="1096848"/>
                    <a:pt x="32108" y="1089807"/>
                    <a:pt x="19575" y="1077273"/>
                  </a:cubicBezTo>
                  <a:cubicBezTo>
                    <a:pt x="7041" y="1064740"/>
                    <a:pt x="0" y="1047740"/>
                    <a:pt x="0" y="1030015"/>
                  </a:cubicBezTo>
                  <a:lnTo>
                    <a:pt x="0" y="66833"/>
                  </a:lnTo>
                  <a:cubicBezTo>
                    <a:pt x="0" y="49108"/>
                    <a:pt x="7041" y="32108"/>
                    <a:pt x="19575" y="19575"/>
                  </a:cubicBezTo>
                  <a:cubicBezTo>
                    <a:pt x="32108" y="7041"/>
                    <a:pt x="49108" y="0"/>
                    <a:pt x="66833" y="0"/>
                  </a:cubicBezTo>
                  <a:close/>
                </a:path>
              </a:pathLst>
            </a:custGeom>
            <a:solidFill>
              <a:srgbClr val="323B60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0" y="-47625"/>
              <a:ext cx="1696691" cy="11444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26" name="TextBox 16">
            <a:extLst>
              <a:ext uri="{FF2B5EF4-FFF2-40B4-BE49-F238E27FC236}">
                <a16:creationId xmlns:a16="http://schemas.microsoft.com/office/drawing/2014/main" id="{8D773E4A-8BC3-B200-96AD-BA427DA865C7}"/>
              </a:ext>
            </a:extLst>
          </p:cNvPr>
          <p:cNvSpPr txBox="1"/>
          <p:nvPr/>
        </p:nvSpPr>
        <p:spPr>
          <a:xfrm>
            <a:off x="3657600" y="7438516"/>
            <a:ext cx="9767452" cy="3462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94311" lvl="1" algn="ctr">
              <a:lnSpc>
                <a:spcPts val="2700"/>
              </a:lnSpc>
            </a:pPr>
            <a:r>
              <a:rPr lang="en-US" sz="2400" b="1" spc="270" dirty="0">
                <a:solidFill>
                  <a:srgbClr val="22263E"/>
                </a:solidFill>
                <a:latin typeface="Inter"/>
                <a:ea typeface="Inter"/>
                <a:cs typeface="Inter"/>
                <a:sym typeface="Inter"/>
              </a:rPr>
              <a:t>Fig 1: Example of Obstacle Avoidance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2211212">
            <a:off x="-2305505" y="-1443650"/>
            <a:ext cx="4019963" cy="4493189"/>
            <a:chOff x="0" y="0"/>
            <a:chExt cx="981327" cy="109684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81327" cy="1096848"/>
            </a:xfrm>
            <a:custGeom>
              <a:avLst/>
              <a:gdLst/>
              <a:ahLst/>
              <a:cxnLst/>
              <a:rect l="l" t="t" r="r" b="b"/>
              <a:pathLst>
                <a:path w="981327" h="1096848">
                  <a:moveTo>
                    <a:pt x="115552" y="0"/>
                  </a:moveTo>
                  <a:lnTo>
                    <a:pt x="865775" y="0"/>
                  </a:lnTo>
                  <a:cubicBezTo>
                    <a:pt x="896421" y="0"/>
                    <a:pt x="925812" y="12174"/>
                    <a:pt x="947482" y="33844"/>
                  </a:cubicBezTo>
                  <a:cubicBezTo>
                    <a:pt x="969153" y="55515"/>
                    <a:pt x="981327" y="84906"/>
                    <a:pt x="981327" y="115552"/>
                  </a:cubicBezTo>
                  <a:lnTo>
                    <a:pt x="981327" y="981296"/>
                  </a:lnTo>
                  <a:cubicBezTo>
                    <a:pt x="981327" y="1011942"/>
                    <a:pt x="969153" y="1041333"/>
                    <a:pt x="947482" y="1063004"/>
                  </a:cubicBezTo>
                  <a:cubicBezTo>
                    <a:pt x="925812" y="1084674"/>
                    <a:pt x="896421" y="1096848"/>
                    <a:pt x="865775" y="1096848"/>
                  </a:cubicBezTo>
                  <a:lnTo>
                    <a:pt x="115552" y="1096848"/>
                  </a:lnTo>
                  <a:cubicBezTo>
                    <a:pt x="84906" y="1096848"/>
                    <a:pt x="55515" y="1084674"/>
                    <a:pt x="33844" y="1063004"/>
                  </a:cubicBezTo>
                  <a:cubicBezTo>
                    <a:pt x="12174" y="1041333"/>
                    <a:pt x="0" y="1011942"/>
                    <a:pt x="0" y="981296"/>
                  </a:cubicBezTo>
                  <a:lnTo>
                    <a:pt x="0" y="115552"/>
                  </a:lnTo>
                  <a:cubicBezTo>
                    <a:pt x="0" y="84906"/>
                    <a:pt x="12174" y="55515"/>
                    <a:pt x="33844" y="33844"/>
                  </a:cubicBezTo>
                  <a:cubicBezTo>
                    <a:pt x="55515" y="12174"/>
                    <a:pt x="84906" y="0"/>
                    <a:pt x="11555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9FA5C8">
                    <a:alpha val="100000"/>
                  </a:srgbClr>
                </a:gs>
                <a:gs pos="100000">
                  <a:srgbClr val="9FA5C8">
                    <a:alpha val="0"/>
                  </a:srgbClr>
                </a:gs>
              </a:gsLst>
              <a:lin ang="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981327" cy="11444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5009608" y="936295"/>
            <a:ext cx="8268784" cy="10795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000"/>
              </a:lnSpc>
            </a:pPr>
            <a:r>
              <a:rPr lang="en-US" sz="8000" b="1" spc="160">
                <a:solidFill>
                  <a:srgbClr val="4B548B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PROJECT GOALS</a:t>
            </a:r>
          </a:p>
        </p:txBody>
      </p:sp>
      <p:grpSp>
        <p:nvGrpSpPr>
          <p:cNvPr id="6" name="Group 6"/>
          <p:cNvGrpSpPr/>
          <p:nvPr/>
        </p:nvGrpSpPr>
        <p:grpSpPr>
          <a:xfrm rot="-2211212">
            <a:off x="-1449957" y="-3920233"/>
            <a:ext cx="6950422" cy="4493189"/>
            <a:chOff x="0" y="0"/>
            <a:chExt cx="1696691" cy="109684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696691" cy="1096848"/>
            </a:xfrm>
            <a:custGeom>
              <a:avLst/>
              <a:gdLst/>
              <a:ahLst/>
              <a:cxnLst/>
              <a:rect l="l" t="t" r="r" b="b"/>
              <a:pathLst>
                <a:path w="1696691" h="1096848">
                  <a:moveTo>
                    <a:pt x="66833" y="0"/>
                  </a:moveTo>
                  <a:lnTo>
                    <a:pt x="1629859" y="0"/>
                  </a:lnTo>
                  <a:cubicBezTo>
                    <a:pt x="1647584" y="0"/>
                    <a:pt x="1664583" y="7041"/>
                    <a:pt x="1677117" y="19575"/>
                  </a:cubicBezTo>
                  <a:cubicBezTo>
                    <a:pt x="1689650" y="32108"/>
                    <a:pt x="1696691" y="49108"/>
                    <a:pt x="1696691" y="66833"/>
                  </a:cubicBezTo>
                  <a:lnTo>
                    <a:pt x="1696691" y="1030015"/>
                  </a:lnTo>
                  <a:cubicBezTo>
                    <a:pt x="1696691" y="1047740"/>
                    <a:pt x="1689650" y="1064740"/>
                    <a:pt x="1677117" y="1077273"/>
                  </a:cubicBezTo>
                  <a:cubicBezTo>
                    <a:pt x="1664583" y="1089807"/>
                    <a:pt x="1647584" y="1096848"/>
                    <a:pt x="1629859" y="1096848"/>
                  </a:cubicBezTo>
                  <a:lnTo>
                    <a:pt x="66833" y="1096848"/>
                  </a:lnTo>
                  <a:cubicBezTo>
                    <a:pt x="49108" y="1096848"/>
                    <a:pt x="32108" y="1089807"/>
                    <a:pt x="19575" y="1077273"/>
                  </a:cubicBezTo>
                  <a:cubicBezTo>
                    <a:pt x="7041" y="1064740"/>
                    <a:pt x="0" y="1047740"/>
                    <a:pt x="0" y="1030015"/>
                  </a:cubicBezTo>
                  <a:lnTo>
                    <a:pt x="0" y="66833"/>
                  </a:lnTo>
                  <a:cubicBezTo>
                    <a:pt x="0" y="49108"/>
                    <a:pt x="7041" y="32108"/>
                    <a:pt x="19575" y="19575"/>
                  </a:cubicBezTo>
                  <a:cubicBezTo>
                    <a:pt x="32108" y="7041"/>
                    <a:pt x="49108" y="0"/>
                    <a:pt x="66833" y="0"/>
                  </a:cubicBezTo>
                  <a:close/>
                </a:path>
              </a:pathLst>
            </a:custGeom>
            <a:solidFill>
              <a:srgbClr val="323B60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1696691" cy="11444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 rot="-2211212">
            <a:off x="13784089" y="8980678"/>
            <a:ext cx="6950422" cy="4493189"/>
            <a:chOff x="0" y="0"/>
            <a:chExt cx="1696691" cy="109684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696691" cy="1096848"/>
            </a:xfrm>
            <a:custGeom>
              <a:avLst/>
              <a:gdLst/>
              <a:ahLst/>
              <a:cxnLst/>
              <a:rect l="l" t="t" r="r" b="b"/>
              <a:pathLst>
                <a:path w="1696691" h="1096848">
                  <a:moveTo>
                    <a:pt x="66833" y="0"/>
                  </a:moveTo>
                  <a:lnTo>
                    <a:pt x="1629859" y="0"/>
                  </a:lnTo>
                  <a:cubicBezTo>
                    <a:pt x="1647584" y="0"/>
                    <a:pt x="1664583" y="7041"/>
                    <a:pt x="1677117" y="19575"/>
                  </a:cubicBezTo>
                  <a:cubicBezTo>
                    <a:pt x="1689650" y="32108"/>
                    <a:pt x="1696691" y="49108"/>
                    <a:pt x="1696691" y="66833"/>
                  </a:cubicBezTo>
                  <a:lnTo>
                    <a:pt x="1696691" y="1030015"/>
                  </a:lnTo>
                  <a:cubicBezTo>
                    <a:pt x="1696691" y="1047740"/>
                    <a:pt x="1689650" y="1064740"/>
                    <a:pt x="1677117" y="1077273"/>
                  </a:cubicBezTo>
                  <a:cubicBezTo>
                    <a:pt x="1664583" y="1089807"/>
                    <a:pt x="1647584" y="1096848"/>
                    <a:pt x="1629859" y="1096848"/>
                  </a:cubicBezTo>
                  <a:lnTo>
                    <a:pt x="66833" y="1096848"/>
                  </a:lnTo>
                  <a:cubicBezTo>
                    <a:pt x="49108" y="1096848"/>
                    <a:pt x="32108" y="1089807"/>
                    <a:pt x="19575" y="1077273"/>
                  </a:cubicBezTo>
                  <a:cubicBezTo>
                    <a:pt x="7041" y="1064740"/>
                    <a:pt x="0" y="1047740"/>
                    <a:pt x="0" y="1030015"/>
                  </a:cubicBezTo>
                  <a:lnTo>
                    <a:pt x="0" y="66833"/>
                  </a:lnTo>
                  <a:cubicBezTo>
                    <a:pt x="0" y="49108"/>
                    <a:pt x="7041" y="32108"/>
                    <a:pt x="19575" y="19575"/>
                  </a:cubicBezTo>
                  <a:cubicBezTo>
                    <a:pt x="32108" y="7041"/>
                    <a:pt x="49108" y="0"/>
                    <a:pt x="66833" y="0"/>
                  </a:cubicBezTo>
                  <a:close/>
                </a:path>
              </a:pathLst>
            </a:custGeom>
            <a:solidFill>
              <a:srgbClr val="323B60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1696691" cy="11444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2059059" y="2829935"/>
            <a:ext cx="1436405" cy="1317902"/>
          </a:xfrm>
          <a:custGeom>
            <a:avLst/>
            <a:gdLst/>
            <a:ahLst/>
            <a:cxnLst/>
            <a:rect l="l" t="t" r="r" b="b"/>
            <a:pathLst>
              <a:path w="1436405" h="1317902">
                <a:moveTo>
                  <a:pt x="0" y="0"/>
                </a:moveTo>
                <a:lnTo>
                  <a:pt x="1436405" y="0"/>
                </a:lnTo>
                <a:lnTo>
                  <a:pt x="1436405" y="1317902"/>
                </a:lnTo>
                <a:lnTo>
                  <a:pt x="0" y="13179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6858000" y="2720806"/>
            <a:ext cx="1383624" cy="1317902"/>
          </a:xfrm>
          <a:custGeom>
            <a:avLst/>
            <a:gdLst/>
            <a:ahLst/>
            <a:cxnLst/>
            <a:rect l="l" t="t" r="r" b="b"/>
            <a:pathLst>
              <a:path w="1383624" h="1317902">
                <a:moveTo>
                  <a:pt x="0" y="0"/>
                </a:moveTo>
                <a:lnTo>
                  <a:pt x="1383624" y="0"/>
                </a:lnTo>
                <a:lnTo>
                  <a:pt x="1383624" y="1317902"/>
                </a:lnTo>
                <a:lnTo>
                  <a:pt x="0" y="131790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473588" y="4407467"/>
            <a:ext cx="4607345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79"/>
              </a:lnSpc>
            </a:pPr>
            <a:r>
              <a:rPr lang="en-US" sz="2400" b="1" spc="240" dirty="0">
                <a:solidFill>
                  <a:srgbClr val="4B548B"/>
                </a:solidFill>
                <a:latin typeface="Inter Bold"/>
                <a:ea typeface="Inter Bold"/>
                <a:cs typeface="Inter Bold"/>
                <a:sym typeface="Inter Bold"/>
              </a:rPr>
              <a:t>MAIN GOAL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410200" y="4305147"/>
            <a:ext cx="4607345" cy="723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79"/>
              </a:lnSpc>
            </a:pPr>
            <a:r>
              <a:rPr lang="en-US" sz="2400" b="1" spc="240" dirty="0">
                <a:solidFill>
                  <a:srgbClr val="4B548B"/>
                </a:solidFill>
                <a:latin typeface="Inter Bold"/>
                <a:ea typeface="Inter Bold"/>
                <a:cs typeface="Inter Bold"/>
                <a:sym typeface="Inter Bold"/>
              </a:rPr>
              <a:t>QUANTITATIVE OUTCOME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09600" y="5258523"/>
            <a:ext cx="4607345" cy="10387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88623" lvl="1" indent="-194312" algn="l">
              <a:lnSpc>
                <a:spcPts val="2700"/>
              </a:lnSpc>
              <a:buFont typeface="Arial"/>
              <a:buChar char="•"/>
            </a:pPr>
            <a:r>
              <a:rPr lang="en-US" sz="2400" spc="270" dirty="0">
                <a:solidFill>
                  <a:srgbClr val="22263E"/>
                </a:solidFill>
                <a:latin typeface="Inter"/>
                <a:ea typeface="Inter"/>
                <a:cs typeface="Inter"/>
                <a:sym typeface="Inter"/>
              </a:rPr>
              <a:t>Enable the robot to perceive obstacles and steer away safely.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296426" y="5257954"/>
            <a:ext cx="5410200" cy="30839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88623" lvl="1" indent="-194312" algn="l">
              <a:lnSpc>
                <a:spcPts val="2700"/>
              </a:lnSpc>
              <a:buFont typeface="Arial"/>
              <a:buChar char="•"/>
            </a:pPr>
            <a:r>
              <a:rPr lang="en-US" sz="2400" spc="270" dirty="0">
                <a:solidFill>
                  <a:srgbClr val="22263E"/>
                </a:solidFill>
                <a:latin typeface="Inter"/>
                <a:ea typeface="Inter"/>
                <a:cs typeface="Inter"/>
                <a:sym typeface="Inter"/>
              </a:rPr>
              <a:t>Obstacle detection accuracy: 100% (achieved).</a:t>
            </a:r>
          </a:p>
          <a:p>
            <a:pPr marL="388623" lvl="1" indent="-194312" algn="l">
              <a:lnSpc>
                <a:spcPts val="2700"/>
              </a:lnSpc>
              <a:buFont typeface="Arial"/>
              <a:buChar char="•"/>
            </a:pPr>
            <a:r>
              <a:rPr lang="en-US" sz="2400" spc="270" dirty="0">
                <a:solidFill>
                  <a:srgbClr val="22263E"/>
                </a:solidFill>
                <a:latin typeface="Inter"/>
                <a:ea typeface="Inter"/>
                <a:cs typeface="Inter"/>
                <a:sym typeface="Inter"/>
              </a:rPr>
              <a:t>Successful obstacle avoidance: target &gt; 70%.</a:t>
            </a:r>
          </a:p>
          <a:p>
            <a:pPr marL="388623" lvl="1" indent="-194312" algn="l">
              <a:lnSpc>
                <a:spcPts val="2700"/>
              </a:lnSpc>
              <a:buFont typeface="Arial"/>
              <a:buChar char="•"/>
            </a:pPr>
            <a:r>
              <a:rPr lang="en-US" sz="2400" spc="270" dirty="0">
                <a:solidFill>
                  <a:srgbClr val="22263E"/>
                </a:solidFill>
                <a:latin typeface="Inter"/>
                <a:ea typeface="Inter"/>
                <a:cs typeface="Inter"/>
                <a:sym typeface="Inter"/>
              </a:rPr>
              <a:t>Reliable re-centering after avoidance.</a:t>
            </a:r>
          </a:p>
          <a:p>
            <a:pPr marL="388623" lvl="1" indent="-194312" algn="l">
              <a:lnSpc>
                <a:spcPts val="2700"/>
              </a:lnSpc>
              <a:buFont typeface="Arial"/>
              <a:buChar char="•"/>
            </a:pPr>
            <a:r>
              <a:rPr lang="en-US" sz="2400" spc="270" dirty="0">
                <a:solidFill>
                  <a:srgbClr val="22263E"/>
                </a:solidFill>
                <a:latin typeface="Inter"/>
                <a:ea typeface="Inter"/>
                <a:cs typeface="Inter"/>
                <a:sym typeface="Inter"/>
              </a:rPr>
              <a:t>Configurable safety stop distance.</a:t>
            </a:r>
          </a:p>
          <a:p>
            <a:pPr algn="l">
              <a:lnSpc>
                <a:spcPts val="2700"/>
              </a:lnSpc>
            </a:pPr>
            <a:endParaRPr lang="en-US" sz="1800" spc="270" dirty="0">
              <a:solidFill>
                <a:srgbClr val="22263E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D1E8F90-AE6D-2DC5-3A1E-4EE46B83B0BE}"/>
              </a:ext>
            </a:extLst>
          </p:cNvPr>
          <p:cNvSpPr txBox="1"/>
          <p:nvPr/>
        </p:nvSpPr>
        <p:spPr>
          <a:xfrm>
            <a:off x="11125200" y="5258523"/>
            <a:ext cx="5410200" cy="20452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88623" lvl="1" indent="-194312" algn="l">
              <a:lnSpc>
                <a:spcPts val="2700"/>
              </a:lnSpc>
              <a:buFont typeface="Arial"/>
              <a:buChar char="•"/>
            </a:pPr>
            <a:r>
              <a:rPr lang="en-US" sz="2400" spc="270" dirty="0">
                <a:solidFill>
                  <a:srgbClr val="22263E"/>
                </a:solidFill>
                <a:latin typeface="Inter"/>
                <a:ea typeface="Inter"/>
                <a:cs typeface="Inter"/>
                <a:sym typeface="Inter"/>
              </a:rPr>
              <a:t>Only avoid static obstacles.</a:t>
            </a:r>
          </a:p>
          <a:p>
            <a:pPr marL="388623" lvl="1" indent="-194312" algn="l">
              <a:lnSpc>
                <a:spcPts val="2700"/>
              </a:lnSpc>
              <a:buFont typeface="Arial"/>
              <a:buChar char="•"/>
            </a:pPr>
            <a:r>
              <a:rPr lang="en-US" sz="2400" spc="270" dirty="0" err="1">
                <a:solidFill>
                  <a:srgbClr val="22263E"/>
                </a:solidFill>
                <a:latin typeface="Inter"/>
                <a:ea typeface="Inter"/>
                <a:cs typeface="Inter"/>
                <a:sym typeface="Inter"/>
              </a:rPr>
              <a:t>Duckiebots</a:t>
            </a:r>
            <a:r>
              <a:rPr lang="en-US" sz="2400" spc="270" dirty="0">
                <a:solidFill>
                  <a:srgbClr val="22263E"/>
                </a:solidFill>
                <a:latin typeface="Inter"/>
                <a:ea typeface="Inter"/>
                <a:cs typeface="Inter"/>
                <a:sym typeface="Inter"/>
              </a:rPr>
              <a:t> are the only obstacles on the track.</a:t>
            </a:r>
          </a:p>
          <a:p>
            <a:pPr marL="388623" lvl="1" indent="-194312" algn="l">
              <a:lnSpc>
                <a:spcPts val="2700"/>
              </a:lnSpc>
              <a:buFont typeface="Arial"/>
              <a:buChar char="•"/>
            </a:pPr>
            <a:r>
              <a:rPr lang="en-US" sz="2400" spc="270" dirty="0">
                <a:solidFill>
                  <a:srgbClr val="22263E"/>
                </a:solidFill>
                <a:latin typeface="Inter"/>
                <a:ea typeface="Inter"/>
                <a:cs typeface="Inter"/>
                <a:sym typeface="Inter"/>
              </a:rPr>
              <a:t>Track configuration same as Lab 3 – One square.</a:t>
            </a:r>
          </a:p>
          <a:p>
            <a:pPr algn="l">
              <a:lnSpc>
                <a:spcPts val="2700"/>
              </a:lnSpc>
            </a:pPr>
            <a:endParaRPr lang="en-US" sz="1800" spc="270" dirty="0">
              <a:solidFill>
                <a:srgbClr val="22263E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" name="TextBox 15">
            <a:extLst>
              <a:ext uri="{FF2B5EF4-FFF2-40B4-BE49-F238E27FC236}">
                <a16:creationId xmlns:a16="http://schemas.microsoft.com/office/drawing/2014/main" id="{07F922BC-1BB5-31E3-3372-ED5D5AE20FE6}"/>
              </a:ext>
            </a:extLst>
          </p:cNvPr>
          <p:cNvSpPr txBox="1"/>
          <p:nvPr/>
        </p:nvSpPr>
        <p:spPr>
          <a:xfrm>
            <a:off x="10974719" y="4304577"/>
            <a:ext cx="4607345" cy="351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79"/>
              </a:lnSpc>
            </a:pPr>
            <a:r>
              <a:rPr lang="en-US" sz="2400" b="1" spc="240" dirty="0">
                <a:solidFill>
                  <a:srgbClr val="4B548B"/>
                </a:solidFill>
                <a:latin typeface="Inter Bold"/>
                <a:ea typeface="Inter Bold"/>
                <a:cs typeface="Inter Bold"/>
                <a:sym typeface="Inter Bold"/>
              </a:rPr>
              <a:t>ASSUMPTIONS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7EE37DEF-AC21-904E-1795-4A1A91320108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>
            <a:off x="12618808" y="2720806"/>
            <a:ext cx="1319167" cy="131790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2211212">
            <a:off x="-2305505" y="-1443650"/>
            <a:ext cx="4019963" cy="4493189"/>
            <a:chOff x="0" y="0"/>
            <a:chExt cx="981327" cy="109684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81327" cy="1096848"/>
            </a:xfrm>
            <a:custGeom>
              <a:avLst/>
              <a:gdLst/>
              <a:ahLst/>
              <a:cxnLst/>
              <a:rect l="l" t="t" r="r" b="b"/>
              <a:pathLst>
                <a:path w="981327" h="1096848">
                  <a:moveTo>
                    <a:pt x="115552" y="0"/>
                  </a:moveTo>
                  <a:lnTo>
                    <a:pt x="865775" y="0"/>
                  </a:lnTo>
                  <a:cubicBezTo>
                    <a:pt x="896421" y="0"/>
                    <a:pt x="925812" y="12174"/>
                    <a:pt x="947482" y="33844"/>
                  </a:cubicBezTo>
                  <a:cubicBezTo>
                    <a:pt x="969153" y="55515"/>
                    <a:pt x="981327" y="84906"/>
                    <a:pt x="981327" y="115552"/>
                  </a:cubicBezTo>
                  <a:lnTo>
                    <a:pt x="981327" y="981296"/>
                  </a:lnTo>
                  <a:cubicBezTo>
                    <a:pt x="981327" y="1011942"/>
                    <a:pt x="969153" y="1041333"/>
                    <a:pt x="947482" y="1063004"/>
                  </a:cubicBezTo>
                  <a:cubicBezTo>
                    <a:pt x="925812" y="1084674"/>
                    <a:pt x="896421" y="1096848"/>
                    <a:pt x="865775" y="1096848"/>
                  </a:cubicBezTo>
                  <a:lnTo>
                    <a:pt x="115552" y="1096848"/>
                  </a:lnTo>
                  <a:cubicBezTo>
                    <a:pt x="84906" y="1096848"/>
                    <a:pt x="55515" y="1084674"/>
                    <a:pt x="33844" y="1063004"/>
                  </a:cubicBezTo>
                  <a:cubicBezTo>
                    <a:pt x="12174" y="1041333"/>
                    <a:pt x="0" y="1011942"/>
                    <a:pt x="0" y="981296"/>
                  </a:cubicBezTo>
                  <a:lnTo>
                    <a:pt x="0" y="115552"/>
                  </a:lnTo>
                  <a:cubicBezTo>
                    <a:pt x="0" y="84906"/>
                    <a:pt x="12174" y="55515"/>
                    <a:pt x="33844" y="33844"/>
                  </a:cubicBezTo>
                  <a:cubicBezTo>
                    <a:pt x="55515" y="12174"/>
                    <a:pt x="84906" y="0"/>
                    <a:pt x="11555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9FA5C8">
                    <a:alpha val="100000"/>
                  </a:srgbClr>
                </a:gs>
                <a:gs pos="100000">
                  <a:srgbClr val="9FA5C8">
                    <a:alpha val="0"/>
                  </a:srgbClr>
                </a:gs>
              </a:gsLst>
              <a:lin ang="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981327" cy="11444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-2211212">
            <a:off x="-1449957" y="-3920233"/>
            <a:ext cx="6950422" cy="4493189"/>
            <a:chOff x="0" y="0"/>
            <a:chExt cx="1696691" cy="109684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696691" cy="1096848"/>
            </a:xfrm>
            <a:custGeom>
              <a:avLst/>
              <a:gdLst/>
              <a:ahLst/>
              <a:cxnLst/>
              <a:rect l="l" t="t" r="r" b="b"/>
              <a:pathLst>
                <a:path w="1696691" h="1096848">
                  <a:moveTo>
                    <a:pt x="66833" y="0"/>
                  </a:moveTo>
                  <a:lnTo>
                    <a:pt x="1629859" y="0"/>
                  </a:lnTo>
                  <a:cubicBezTo>
                    <a:pt x="1647584" y="0"/>
                    <a:pt x="1664583" y="7041"/>
                    <a:pt x="1677117" y="19575"/>
                  </a:cubicBezTo>
                  <a:cubicBezTo>
                    <a:pt x="1689650" y="32108"/>
                    <a:pt x="1696691" y="49108"/>
                    <a:pt x="1696691" y="66833"/>
                  </a:cubicBezTo>
                  <a:lnTo>
                    <a:pt x="1696691" y="1030015"/>
                  </a:lnTo>
                  <a:cubicBezTo>
                    <a:pt x="1696691" y="1047740"/>
                    <a:pt x="1689650" y="1064740"/>
                    <a:pt x="1677117" y="1077273"/>
                  </a:cubicBezTo>
                  <a:cubicBezTo>
                    <a:pt x="1664583" y="1089807"/>
                    <a:pt x="1647584" y="1096848"/>
                    <a:pt x="1629859" y="1096848"/>
                  </a:cubicBezTo>
                  <a:lnTo>
                    <a:pt x="66833" y="1096848"/>
                  </a:lnTo>
                  <a:cubicBezTo>
                    <a:pt x="49108" y="1096848"/>
                    <a:pt x="32108" y="1089807"/>
                    <a:pt x="19575" y="1077273"/>
                  </a:cubicBezTo>
                  <a:cubicBezTo>
                    <a:pt x="7041" y="1064740"/>
                    <a:pt x="0" y="1047740"/>
                    <a:pt x="0" y="1030015"/>
                  </a:cubicBezTo>
                  <a:lnTo>
                    <a:pt x="0" y="66833"/>
                  </a:lnTo>
                  <a:cubicBezTo>
                    <a:pt x="0" y="49108"/>
                    <a:pt x="7041" y="32108"/>
                    <a:pt x="19575" y="19575"/>
                  </a:cubicBezTo>
                  <a:cubicBezTo>
                    <a:pt x="32108" y="7041"/>
                    <a:pt x="49108" y="0"/>
                    <a:pt x="66833" y="0"/>
                  </a:cubicBezTo>
                  <a:close/>
                </a:path>
              </a:pathLst>
            </a:custGeom>
            <a:solidFill>
              <a:srgbClr val="323B6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1696691" cy="11444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 rot="-2211212">
            <a:off x="13784089" y="8980678"/>
            <a:ext cx="6950422" cy="4493189"/>
            <a:chOff x="0" y="0"/>
            <a:chExt cx="1696691" cy="109684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696691" cy="1096848"/>
            </a:xfrm>
            <a:custGeom>
              <a:avLst/>
              <a:gdLst/>
              <a:ahLst/>
              <a:cxnLst/>
              <a:rect l="l" t="t" r="r" b="b"/>
              <a:pathLst>
                <a:path w="1696691" h="1096848">
                  <a:moveTo>
                    <a:pt x="66833" y="0"/>
                  </a:moveTo>
                  <a:lnTo>
                    <a:pt x="1629859" y="0"/>
                  </a:lnTo>
                  <a:cubicBezTo>
                    <a:pt x="1647584" y="0"/>
                    <a:pt x="1664583" y="7041"/>
                    <a:pt x="1677117" y="19575"/>
                  </a:cubicBezTo>
                  <a:cubicBezTo>
                    <a:pt x="1689650" y="32108"/>
                    <a:pt x="1696691" y="49108"/>
                    <a:pt x="1696691" y="66833"/>
                  </a:cubicBezTo>
                  <a:lnTo>
                    <a:pt x="1696691" y="1030015"/>
                  </a:lnTo>
                  <a:cubicBezTo>
                    <a:pt x="1696691" y="1047740"/>
                    <a:pt x="1689650" y="1064740"/>
                    <a:pt x="1677117" y="1077273"/>
                  </a:cubicBezTo>
                  <a:cubicBezTo>
                    <a:pt x="1664583" y="1089807"/>
                    <a:pt x="1647584" y="1096848"/>
                    <a:pt x="1629859" y="1096848"/>
                  </a:cubicBezTo>
                  <a:lnTo>
                    <a:pt x="66833" y="1096848"/>
                  </a:lnTo>
                  <a:cubicBezTo>
                    <a:pt x="49108" y="1096848"/>
                    <a:pt x="32108" y="1089807"/>
                    <a:pt x="19575" y="1077273"/>
                  </a:cubicBezTo>
                  <a:cubicBezTo>
                    <a:pt x="7041" y="1064740"/>
                    <a:pt x="0" y="1047740"/>
                    <a:pt x="0" y="1030015"/>
                  </a:cubicBezTo>
                  <a:lnTo>
                    <a:pt x="0" y="66833"/>
                  </a:lnTo>
                  <a:cubicBezTo>
                    <a:pt x="0" y="49108"/>
                    <a:pt x="7041" y="32108"/>
                    <a:pt x="19575" y="19575"/>
                  </a:cubicBezTo>
                  <a:cubicBezTo>
                    <a:pt x="32108" y="7041"/>
                    <a:pt x="49108" y="0"/>
                    <a:pt x="66833" y="0"/>
                  </a:cubicBezTo>
                  <a:close/>
                </a:path>
              </a:pathLst>
            </a:custGeom>
            <a:solidFill>
              <a:srgbClr val="323B60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1696691" cy="11444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4419600" y="3063474"/>
            <a:ext cx="1348127" cy="1644007"/>
          </a:xfrm>
          <a:custGeom>
            <a:avLst/>
            <a:gdLst/>
            <a:ahLst/>
            <a:cxnLst/>
            <a:rect l="l" t="t" r="r" b="b"/>
            <a:pathLst>
              <a:path w="942980" h="1255215">
                <a:moveTo>
                  <a:pt x="0" y="0"/>
                </a:moveTo>
                <a:lnTo>
                  <a:pt x="942981" y="0"/>
                </a:lnTo>
                <a:lnTo>
                  <a:pt x="942981" y="1255215"/>
                </a:lnTo>
                <a:lnTo>
                  <a:pt x="0" y="12552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1511476" y="3159929"/>
            <a:ext cx="1348127" cy="1547552"/>
          </a:xfrm>
          <a:custGeom>
            <a:avLst/>
            <a:gdLst/>
            <a:ahLst/>
            <a:cxnLst/>
            <a:rect l="l" t="t" r="r" b="b"/>
            <a:pathLst>
              <a:path w="949256" h="1255215">
                <a:moveTo>
                  <a:pt x="0" y="0"/>
                </a:moveTo>
                <a:lnTo>
                  <a:pt x="949256" y="0"/>
                </a:lnTo>
                <a:lnTo>
                  <a:pt x="949256" y="1255215"/>
                </a:lnTo>
                <a:lnTo>
                  <a:pt x="0" y="12552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3153754" y="1128855"/>
            <a:ext cx="11980492" cy="10259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000"/>
              </a:lnSpc>
            </a:pPr>
            <a:r>
              <a:rPr lang="en-US" sz="8000" b="1" spc="160" dirty="0">
                <a:solidFill>
                  <a:srgbClr val="4B548B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METHODOLOGY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635576" y="4957551"/>
            <a:ext cx="2916173" cy="3718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2879"/>
              </a:lnSpc>
            </a:pPr>
            <a:r>
              <a:rPr lang="en-US" sz="2800" b="1" spc="240" dirty="0">
                <a:solidFill>
                  <a:srgbClr val="4B548B"/>
                </a:solidFill>
                <a:latin typeface="Inter Bold"/>
                <a:ea typeface="Inter Bold"/>
                <a:cs typeface="Inter Bold"/>
                <a:sym typeface="Inter Bold"/>
              </a:rPr>
              <a:t>KEY NODES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881866" y="4988216"/>
            <a:ext cx="4607345" cy="3718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79"/>
              </a:lnSpc>
            </a:pPr>
            <a:r>
              <a:rPr lang="en-US" sz="2800" b="1" spc="240" dirty="0">
                <a:solidFill>
                  <a:srgbClr val="4B548B"/>
                </a:solidFill>
                <a:latin typeface="Inter Bold"/>
                <a:ea typeface="Inter Bold"/>
                <a:cs typeface="Inter Bold"/>
                <a:sym typeface="Inter Bold"/>
              </a:rPr>
              <a:t>KEY TOPICS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259641" y="5636544"/>
            <a:ext cx="6521053" cy="27377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88623" lvl="1" indent="-194312" algn="l">
              <a:lnSpc>
                <a:spcPts val="2700"/>
              </a:lnSpc>
              <a:buFont typeface="Arial"/>
              <a:buChar char="•"/>
            </a:pPr>
            <a:r>
              <a:rPr lang="en-US" sz="2400" spc="270" dirty="0">
                <a:solidFill>
                  <a:srgbClr val="22263E"/>
                </a:solidFill>
                <a:latin typeface="Inter"/>
                <a:ea typeface="Inter"/>
                <a:cs typeface="Inter"/>
                <a:sym typeface="Inter"/>
              </a:rPr>
              <a:t>Camera Node → image input</a:t>
            </a:r>
          </a:p>
          <a:p>
            <a:pPr marL="388623" lvl="1" indent="-194312" algn="l">
              <a:lnSpc>
                <a:spcPts val="2700"/>
              </a:lnSpc>
              <a:buFont typeface="Arial"/>
              <a:buChar char="•"/>
            </a:pPr>
            <a:r>
              <a:rPr lang="en-US" sz="2400" spc="270" dirty="0">
                <a:solidFill>
                  <a:srgbClr val="22263E"/>
                </a:solidFill>
                <a:latin typeface="Inter"/>
                <a:ea typeface="Inter"/>
                <a:cs typeface="Inter"/>
                <a:sym typeface="Inter"/>
              </a:rPr>
              <a:t>Lane Detection Node → line edges</a:t>
            </a:r>
          </a:p>
          <a:p>
            <a:pPr marL="388623" lvl="1" indent="-194312" algn="l">
              <a:lnSpc>
                <a:spcPts val="2700"/>
              </a:lnSpc>
              <a:buFont typeface="Arial"/>
              <a:buChar char="•"/>
            </a:pPr>
            <a:r>
              <a:rPr lang="en-US" sz="2400" spc="270" dirty="0">
                <a:solidFill>
                  <a:srgbClr val="22263E"/>
                </a:solidFill>
                <a:latin typeface="Inter"/>
                <a:ea typeface="Inter"/>
                <a:cs typeface="Inter"/>
                <a:sym typeface="Inter"/>
              </a:rPr>
              <a:t>Vehicle Detection Node → obstacle info</a:t>
            </a:r>
          </a:p>
          <a:p>
            <a:pPr marL="388623" lvl="1" indent="-194312">
              <a:lnSpc>
                <a:spcPts val="2700"/>
              </a:lnSpc>
              <a:buFont typeface="Arial"/>
              <a:buChar char="•"/>
            </a:pPr>
            <a:r>
              <a:rPr lang="en-US" sz="2400" spc="270" dirty="0">
                <a:solidFill>
                  <a:srgbClr val="22263E"/>
                </a:solidFill>
                <a:latin typeface="Inter"/>
                <a:ea typeface="Inter"/>
                <a:cs typeface="Inter"/>
                <a:sym typeface="Inter"/>
              </a:rPr>
              <a:t>Lane Keeping Node → PID Control</a:t>
            </a:r>
          </a:p>
          <a:p>
            <a:pPr marL="388623" lvl="1" indent="-194312" algn="l">
              <a:lnSpc>
                <a:spcPts val="2700"/>
              </a:lnSpc>
              <a:buFont typeface="Arial"/>
              <a:buChar char="•"/>
            </a:pPr>
            <a:r>
              <a:rPr lang="en-US" sz="2400" spc="270" dirty="0">
                <a:solidFill>
                  <a:srgbClr val="22263E"/>
                </a:solidFill>
                <a:latin typeface="Inter"/>
                <a:ea typeface="Inter"/>
                <a:cs typeface="Inter"/>
                <a:sym typeface="Inter"/>
              </a:rPr>
              <a:t>Avoidance Control Node → generates wheel commands</a:t>
            </a:r>
          </a:p>
          <a:p>
            <a:pPr algn="l">
              <a:lnSpc>
                <a:spcPts val="2700"/>
              </a:lnSpc>
            </a:pPr>
            <a:endParaRPr lang="en-US" sz="1800" spc="270" dirty="0">
              <a:solidFill>
                <a:srgbClr val="22263E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8839200" y="5614036"/>
            <a:ext cx="6858000" cy="17312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88623" lvl="1" indent="-194312" algn="ctr">
              <a:lnSpc>
                <a:spcPts val="2700"/>
              </a:lnSpc>
              <a:buFont typeface="Arial"/>
              <a:buChar char="•"/>
            </a:pPr>
            <a:r>
              <a:rPr lang="en-US" sz="2400" spc="270" dirty="0">
                <a:solidFill>
                  <a:srgbClr val="22263E"/>
                </a:solidFill>
                <a:latin typeface="Inter"/>
                <a:ea typeface="Inter"/>
                <a:cs typeface="Inter"/>
                <a:sym typeface="Inter"/>
              </a:rPr>
              <a:t>/</a:t>
            </a:r>
            <a:r>
              <a:rPr lang="en-US" sz="2400" spc="270" dirty="0" err="1">
                <a:solidFill>
                  <a:srgbClr val="22263E"/>
                </a:solidFill>
                <a:latin typeface="Inter"/>
                <a:ea typeface="Inter"/>
                <a:cs typeface="Inter"/>
                <a:sym typeface="Inter"/>
              </a:rPr>
              <a:t>camera_node</a:t>
            </a:r>
            <a:r>
              <a:rPr lang="en-US" sz="2400" spc="270" dirty="0">
                <a:solidFill>
                  <a:srgbClr val="22263E"/>
                </a:solidFill>
                <a:latin typeface="Inter"/>
                <a:ea typeface="Inter"/>
                <a:cs typeface="Inter"/>
                <a:sym typeface="Inter"/>
              </a:rPr>
              <a:t>/image/compressed</a:t>
            </a:r>
          </a:p>
          <a:p>
            <a:pPr marL="388623" lvl="1" indent="-194312" algn="ctr">
              <a:lnSpc>
                <a:spcPts val="2700"/>
              </a:lnSpc>
              <a:buFont typeface="Arial"/>
              <a:buChar char="•"/>
            </a:pPr>
            <a:r>
              <a:rPr lang="en-US" sz="2400" spc="270" dirty="0">
                <a:solidFill>
                  <a:srgbClr val="22263E"/>
                </a:solidFill>
                <a:latin typeface="Inter"/>
                <a:ea typeface="Inter"/>
                <a:cs typeface="Inter"/>
                <a:sym typeface="Inter"/>
              </a:rPr>
              <a:t>/</a:t>
            </a:r>
            <a:r>
              <a:rPr lang="en-US" sz="2400" spc="270" dirty="0" err="1">
                <a:solidFill>
                  <a:srgbClr val="22263E"/>
                </a:solidFill>
                <a:latin typeface="Inter"/>
                <a:ea typeface="Inter"/>
                <a:cs typeface="Inter"/>
                <a:sym typeface="Inter"/>
              </a:rPr>
              <a:t>lane_filter_node</a:t>
            </a:r>
            <a:r>
              <a:rPr lang="en-US" sz="2400" spc="270" dirty="0">
                <a:solidFill>
                  <a:srgbClr val="22263E"/>
                </a:solidFill>
                <a:latin typeface="Inter"/>
                <a:ea typeface="Inter"/>
                <a:cs typeface="Inter"/>
                <a:sym typeface="Inter"/>
              </a:rPr>
              <a:t>/</a:t>
            </a:r>
            <a:r>
              <a:rPr lang="en-US" sz="2400" spc="270" dirty="0" err="1">
                <a:solidFill>
                  <a:srgbClr val="22263E"/>
                </a:solidFill>
                <a:latin typeface="Inter"/>
                <a:ea typeface="Inter"/>
                <a:cs typeface="Inter"/>
                <a:sym typeface="Inter"/>
              </a:rPr>
              <a:t>lane_pose</a:t>
            </a:r>
            <a:endParaRPr lang="en-US" sz="2400" spc="270" dirty="0">
              <a:solidFill>
                <a:srgbClr val="22263E"/>
              </a:solidFill>
              <a:latin typeface="Inter"/>
              <a:ea typeface="Inter"/>
              <a:cs typeface="Inter"/>
              <a:sym typeface="Inter"/>
            </a:endParaRPr>
          </a:p>
          <a:p>
            <a:pPr marL="388623" lvl="1" indent="-194312" algn="ctr">
              <a:lnSpc>
                <a:spcPts val="2700"/>
              </a:lnSpc>
              <a:buFont typeface="Arial"/>
              <a:buChar char="•"/>
            </a:pPr>
            <a:r>
              <a:rPr lang="en-US" sz="2400" spc="270" dirty="0">
                <a:solidFill>
                  <a:srgbClr val="22263E"/>
                </a:solidFill>
                <a:latin typeface="Inter"/>
                <a:ea typeface="Inter"/>
                <a:cs typeface="Inter"/>
                <a:sym typeface="Inter"/>
              </a:rPr>
              <a:t>/</a:t>
            </a:r>
            <a:r>
              <a:rPr lang="en-US" sz="2400" spc="270" dirty="0" err="1">
                <a:solidFill>
                  <a:srgbClr val="22263E"/>
                </a:solidFill>
                <a:latin typeface="Inter"/>
                <a:ea typeface="Inter"/>
                <a:cs typeface="Inter"/>
                <a:sym typeface="Inter"/>
              </a:rPr>
              <a:t>front_center_tof_driver_node</a:t>
            </a:r>
            <a:r>
              <a:rPr lang="en-US" sz="2400" spc="270" dirty="0">
                <a:solidFill>
                  <a:srgbClr val="22263E"/>
                </a:solidFill>
                <a:latin typeface="Inter"/>
                <a:ea typeface="Inter"/>
                <a:cs typeface="Inter"/>
                <a:sym typeface="Inter"/>
              </a:rPr>
              <a:t>/range</a:t>
            </a:r>
          </a:p>
          <a:p>
            <a:pPr marL="388623" lvl="1" indent="-194312" algn="ctr">
              <a:lnSpc>
                <a:spcPts val="2700"/>
              </a:lnSpc>
              <a:buFont typeface="Arial"/>
              <a:buChar char="•"/>
            </a:pPr>
            <a:r>
              <a:rPr lang="en-US" sz="2400" spc="270" dirty="0">
                <a:solidFill>
                  <a:srgbClr val="22263E"/>
                </a:solidFill>
                <a:latin typeface="Inter"/>
                <a:ea typeface="Inter"/>
                <a:cs typeface="Inter"/>
                <a:sym typeface="Inter"/>
              </a:rPr>
              <a:t> /</a:t>
            </a:r>
            <a:r>
              <a:rPr lang="en-US" sz="2400" spc="270" dirty="0" err="1">
                <a:solidFill>
                  <a:srgbClr val="22263E"/>
                </a:solidFill>
                <a:latin typeface="Inter"/>
                <a:ea typeface="Inter"/>
                <a:cs typeface="Inter"/>
                <a:sym typeface="Inter"/>
              </a:rPr>
              <a:t>vehicle_detection_node</a:t>
            </a:r>
            <a:r>
              <a:rPr lang="en-US" sz="2400" spc="270" dirty="0">
                <a:solidFill>
                  <a:srgbClr val="22263E"/>
                </a:solidFill>
                <a:latin typeface="Inter"/>
                <a:ea typeface="Inter"/>
                <a:cs typeface="Inter"/>
                <a:sym typeface="Inter"/>
              </a:rPr>
              <a:t>/centers</a:t>
            </a:r>
          </a:p>
          <a:p>
            <a:pPr marL="388623" lvl="1" indent="-194312" algn="ctr">
              <a:lnSpc>
                <a:spcPts val="2700"/>
              </a:lnSpc>
              <a:buFont typeface="Arial"/>
              <a:buChar char="•"/>
            </a:pPr>
            <a:r>
              <a:rPr lang="en-US" sz="2400" spc="270" dirty="0">
                <a:solidFill>
                  <a:srgbClr val="22263E"/>
                </a:solidFill>
                <a:latin typeface="Inter"/>
                <a:ea typeface="Inter"/>
                <a:cs typeface="Inter"/>
                <a:sym typeface="Inter"/>
              </a:rPr>
              <a:t>/</a:t>
            </a:r>
            <a:r>
              <a:rPr lang="en-US" sz="2400" spc="270" dirty="0" err="1">
                <a:solidFill>
                  <a:srgbClr val="22263E"/>
                </a:solidFill>
                <a:latin typeface="Inter"/>
                <a:ea typeface="Inter"/>
                <a:cs typeface="Inter"/>
                <a:sym typeface="Inter"/>
              </a:rPr>
              <a:t>car_cmd_switch_node</a:t>
            </a:r>
            <a:r>
              <a:rPr lang="en-US" sz="2400" spc="270" dirty="0">
                <a:solidFill>
                  <a:srgbClr val="22263E"/>
                </a:solidFill>
                <a:latin typeface="Inter"/>
                <a:ea typeface="Inter"/>
                <a:cs typeface="Inter"/>
                <a:sym typeface="Inter"/>
              </a:rPr>
              <a:t>/</a:t>
            </a:r>
            <a:r>
              <a:rPr lang="en-US" sz="2400" spc="270" dirty="0" err="1">
                <a:solidFill>
                  <a:srgbClr val="22263E"/>
                </a:solidFill>
                <a:latin typeface="Inter"/>
                <a:ea typeface="Inter"/>
                <a:cs typeface="Inter"/>
                <a:sym typeface="Inter"/>
              </a:rPr>
              <a:t>cmd</a:t>
            </a:r>
            <a:endParaRPr lang="en-US" sz="2400" spc="270" dirty="0">
              <a:solidFill>
                <a:srgbClr val="22263E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62E940-7554-B03A-D0DA-19B3E91382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C4B011D2-AA87-3A7C-146E-301A7316B6FF}"/>
              </a:ext>
            </a:extLst>
          </p:cNvPr>
          <p:cNvGrpSpPr/>
          <p:nvPr/>
        </p:nvGrpSpPr>
        <p:grpSpPr>
          <a:xfrm rot="-2211212">
            <a:off x="-2305505" y="-1443650"/>
            <a:ext cx="4019963" cy="4493189"/>
            <a:chOff x="0" y="0"/>
            <a:chExt cx="981327" cy="109684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D9AF10A4-3A64-0C3B-E2E1-6EC7BDFCE6EC}"/>
                </a:ext>
              </a:extLst>
            </p:cNvPr>
            <p:cNvSpPr/>
            <p:nvPr/>
          </p:nvSpPr>
          <p:spPr>
            <a:xfrm>
              <a:off x="0" y="0"/>
              <a:ext cx="981327" cy="1096848"/>
            </a:xfrm>
            <a:custGeom>
              <a:avLst/>
              <a:gdLst/>
              <a:ahLst/>
              <a:cxnLst/>
              <a:rect l="l" t="t" r="r" b="b"/>
              <a:pathLst>
                <a:path w="981327" h="1096848">
                  <a:moveTo>
                    <a:pt x="115552" y="0"/>
                  </a:moveTo>
                  <a:lnTo>
                    <a:pt x="865775" y="0"/>
                  </a:lnTo>
                  <a:cubicBezTo>
                    <a:pt x="896421" y="0"/>
                    <a:pt x="925812" y="12174"/>
                    <a:pt x="947482" y="33844"/>
                  </a:cubicBezTo>
                  <a:cubicBezTo>
                    <a:pt x="969153" y="55515"/>
                    <a:pt x="981327" y="84906"/>
                    <a:pt x="981327" y="115552"/>
                  </a:cubicBezTo>
                  <a:lnTo>
                    <a:pt x="981327" y="981296"/>
                  </a:lnTo>
                  <a:cubicBezTo>
                    <a:pt x="981327" y="1011942"/>
                    <a:pt x="969153" y="1041333"/>
                    <a:pt x="947482" y="1063004"/>
                  </a:cubicBezTo>
                  <a:cubicBezTo>
                    <a:pt x="925812" y="1084674"/>
                    <a:pt x="896421" y="1096848"/>
                    <a:pt x="865775" y="1096848"/>
                  </a:cubicBezTo>
                  <a:lnTo>
                    <a:pt x="115552" y="1096848"/>
                  </a:lnTo>
                  <a:cubicBezTo>
                    <a:pt x="84906" y="1096848"/>
                    <a:pt x="55515" y="1084674"/>
                    <a:pt x="33844" y="1063004"/>
                  </a:cubicBezTo>
                  <a:cubicBezTo>
                    <a:pt x="12174" y="1041333"/>
                    <a:pt x="0" y="1011942"/>
                    <a:pt x="0" y="981296"/>
                  </a:cubicBezTo>
                  <a:lnTo>
                    <a:pt x="0" y="115552"/>
                  </a:lnTo>
                  <a:cubicBezTo>
                    <a:pt x="0" y="84906"/>
                    <a:pt x="12174" y="55515"/>
                    <a:pt x="33844" y="33844"/>
                  </a:cubicBezTo>
                  <a:cubicBezTo>
                    <a:pt x="55515" y="12174"/>
                    <a:pt x="84906" y="0"/>
                    <a:pt x="11555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9FA5C8">
                    <a:alpha val="100000"/>
                  </a:srgbClr>
                </a:gs>
                <a:gs pos="100000">
                  <a:srgbClr val="9FA5C8">
                    <a:alpha val="0"/>
                  </a:srgbClr>
                </a:gs>
              </a:gsLst>
              <a:lin ang="0"/>
            </a:gradFill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CD379E4E-8810-66FF-0F2F-1A6CDF627C34}"/>
                </a:ext>
              </a:extLst>
            </p:cNvPr>
            <p:cNvSpPr txBox="1"/>
            <p:nvPr/>
          </p:nvSpPr>
          <p:spPr>
            <a:xfrm>
              <a:off x="0" y="-47625"/>
              <a:ext cx="981327" cy="11444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7F9048B-D239-A27E-7774-95200EF8E24C}"/>
              </a:ext>
            </a:extLst>
          </p:cNvPr>
          <p:cNvGrpSpPr/>
          <p:nvPr/>
        </p:nvGrpSpPr>
        <p:grpSpPr>
          <a:xfrm rot="-2211212">
            <a:off x="-1449957" y="-3920233"/>
            <a:ext cx="6950422" cy="4493189"/>
            <a:chOff x="0" y="0"/>
            <a:chExt cx="1696691" cy="1096848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BB5DFC35-A3FA-C34A-32A7-D7691A359864}"/>
                </a:ext>
              </a:extLst>
            </p:cNvPr>
            <p:cNvSpPr/>
            <p:nvPr/>
          </p:nvSpPr>
          <p:spPr>
            <a:xfrm>
              <a:off x="0" y="0"/>
              <a:ext cx="1696691" cy="1096848"/>
            </a:xfrm>
            <a:custGeom>
              <a:avLst/>
              <a:gdLst/>
              <a:ahLst/>
              <a:cxnLst/>
              <a:rect l="l" t="t" r="r" b="b"/>
              <a:pathLst>
                <a:path w="1696691" h="1096848">
                  <a:moveTo>
                    <a:pt x="66833" y="0"/>
                  </a:moveTo>
                  <a:lnTo>
                    <a:pt x="1629859" y="0"/>
                  </a:lnTo>
                  <a:cubicBezTo>
                    <a:pt x="1647584" y="0"/>
                    <a:pt x="1664583" y="7041"/>
                    <a:pt x="1677117" y="19575"/>
                  </a:cubicBezTo>
                  <a:cubicBezTo>
                    <a:pt x="1689650" y="32108"/>
                    <a:pt x="1696691" y="49108"/>
                    <a:pt x="1696691" y="66833"/>
                  </a:cubicBezTo>
                  <a:lnTo>
                    <a:pt x="1696691" y="1030015"/>
                  </a:lnTo>
                  <a:cubicBezTo>
                    <a:pt x="1696691" y="1047740"/>
                    <a:pt x="1689650" y="1064740"/>
                    <a:pt x="1677117" y="1077273"/>
                  </a:cubicBezTo>
                  <a:cubicBezTo>
                    <a:pt x="1664583" y="1089807"/>
                    <a:pt x="1647584" y="1096848"/>
                    <a:pt x="1629859" y="1096848"/>
                  </a:cubicBezTo>
                  <a:lnTo>
                    <a:pt x="66833" y="1096848"/>
                  </a:lnTo>
                  <a:cubicBezTo>
                    <a:pt x="49108" y="1096848"/>
                    <a:pt x="32108" y="1089807"/>
                    <a:pt x="19575" y="1077273"/>
                  </a:cubicBezTo>
                  <a:cubicBezTo>
                    <a:pt x="7041" y="1064740"/>
                    <a:pt x="0" y="1047740"/>
                    <a:pt x="0" y="1030015"/>
                  </a:cubicBezTo>
                  <a:lnTo>
                    <a:pt x="0" y="66833"/>
                  </a:lnTo>
                  <a:cubicBezTo>
                    <a:pt x="0" y="49108"/>
                    <a:pt x="7041" y="32108"/>
                    <a:pt x="19575" y="19575"/>
                  </a:cubicBezTo>
                  <a:cubicBezTo>
                    <a:pt x="32108" y="7041"/>
                    <a:pt x="49108" y="0"/>
                    <a:pt x="66833" y="0"/>
                  </a:cubicBezTo>
                  <a:close/>
                </a:path>
              </a:pathLst>
            </a:custGeom>
            <a:solidFill>
              <a:srgbClr val="323B60"/>
            </a:solidFill>
          </p:spPr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5071C944-B506-5E0A-FE4B-27FBF0AA6722}"/>
                </a:ext>
              </a:extLst>
            </p:cNvPr>
            <p:cNvSpPr txBox="1"/>
            <p:nvPr/>
          </p:nvSpPr>
          <p:spPr>
            <a:xfrm>
              <a:off x="0" y="-47625"/>
              <a:ext cx="1696691" cy="11444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1D284B40-0778-2EFA-63B6-697DBE81C6F7}"/>
              </a:ext>
            </a:extLst>
          </p:cNvPr>
          <p:cNvGrpSpPr/>
          <p:nvPr/>
        </p:nvGrpSpPr>
        <p:grpSpPr>
          <a:xfrm rot="-2211212">
            <a:off x="13784089" y="8980678"/>
            <a:ext cx="6950422" cy="4493189"/>
            <a:chOff x="0" y="0"/>
            <a:chExt cx="1696691" cy="1096848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E268C202-592C-DD8E-36BF-1D558CCBBBE9}"/>
                </a:ext>
              </a:extLst>
            </p:cNvPr>
            <p:cNvSpPr/>
            <p:nvPr/>
          </p:nvSpPr>
          <p:spPr>
            <a:xfrm>
              <a:off x="0" y="0"/>
              <a:ext cx="1696691" cy="1096848"/>
            </a:xfrm>
            <a:custGeom>
              <a:avLst/>
              <a:gdLst/>
              <a:ahLst/>
              <a:cxnLst/>
              <a:rect l="l" t="t" r="r" b="b"/>
              <a:pathLst>
                <a:path w="1696691" h="1096848">
                  <a:moveTo>
                    <a:pt x="66833" y="0"/>
                  </a:moveTo>
                  <a:lnTo>
                    <a:pt x="1629859" y="0"/>
                  </a:lnTo>
                  <a:cubicBezTo>
                    <a:pt x="1647584" y="0"/>
                    <a:pt x="1664583" y="7041"/>
                    <a:pt x="1677117" y="19575"/>
                  </a:cubicBezTo>
                  <a:cubicBezTo>
                    <a:pt x="1689650" y="32108"/>
                    <a:pt x="1696691" y="49108"/>
                    <a:pt x="1696691" y="66833"/>
                  </a:cubicBezTo>
                  <a:lnTo>
                    <a:pt x="1696691" y="1030015"/>
                  </a:lnTo>
                  <a:cubicBezTo>
                    <a:pt x="1696691" y="1047740"/>
                    <a:pt x="1689650" y="1064740"/>
                    <a:pt x="1677117" y="1077273"/>
                  </a:cubicBezTo>
                  <a:cubicBezTo>
                    <a:pt x="1664583" y="1089807"/>
                    <a:pt x="1647584" y="1096848"/>
                    <a:pt x="1629859" y="1096848"/>
                  </a:cubicBezTo>
                  <a:lnTo>
                    <a:pt x="66833" y="1096848"/>
                  </a:lnTo>
                  <a:cubicBezTo>
                    <a:pt x="49108" y="1096848"/>
                    <a:pt x="32108" y="1089807"/>
                    <a:pt x="19575" y="1077273"/>
                  </a:cubicBezTo>
                  <a:cubicBezTo>
                    <a:pt x="7041" y="1064740"/>
                    <a:pt x="0" y="1047740"/>
                    <a:pt x="0" y="1030015"/>
                  </a:cubicBezTo>
                  <a:lnTo>
                    <a:pt x="0" y="66833"/>
                  </a:lnTo>
                  <a:cubicBezTo>
                    <a:pt x="0" y="49108"/>
                    <a:pt x="7041" y="32108"/>
                    <a:pt x="19575" y="19575"/>
                  </a:cubicBezTo>
                  <a:cubicBezTo>
                    <a:pt x="32108" y="7041"/>
                    <a:pt x="49108" y="0"/>
                    <a:pt x="66833" y="0"/>
                  </a:cubicBezTo>
                  <a:close/>
                </a:path>
              </a:pathLst>
            </a:custGeom>
            <a:solidFill>
              <a:srgbClr val="323B60"/>
            </a:solidFill>
          </p:spPr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4EB41124-7B25-2285-5498-64BBD3673BF8}"/>
                </a:ext>
              </a:extLst>
            </p:cNvPr>
            <p:cNvSpPr txBox="1"/>
            <p:nvPr/>
          </p:nvSpPr>
          <p:spPr>
            <a:xfrm>
              <a:off x="0" y="-47625"/>
              <a:ext cx="1696691" cy="11444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16" name="TextBox 16">
            <a:extLst>
              <a:ext uri="{FF2B5EF4-FFF2-40B4-BE49-F238E27FC236}">
                <a16:creationId xmlns:a16="http://schemas.microsoft.com/office/drawing/2014/main" id="{B72D7F1A-CAA0-0E1E-92E3-93BCF5F572A4}"/>
              </a:ext>
            </a:extLst>
          </p:cNvPr>
          <p:cNvSpPr txBox="1"/>
          <p:nvPr/>
        </p:nvSpPr>
        <p:spPr>
          <a:xfrm>
            <a:off x="3153754" y="1128855"/>
            <a:ext cx="11980492" cy="10259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ctr">
              <a:lnSpc>
                <a:spcPts val="8000"/>
              </a:lnSpc>
            </a:pPr>
            <a:r>
              <a:rPr lang="en-US" sz="8000" b="1" spc="160" dirty="0">
                <a:solidFill>
                  <a:srgbClr val="4B548B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METHODOLOGY</a:t>
            </a:r>
          </a:p>
        </p:txBody>
      </p:sp>
      <p:sp>
        <p:nvSpPr>
          <p:cNvPr id="15" name="TextBox 16">
            <a:extLst>
              <a:ext uri="{FF2B5EF4-FFF2-40B4-BE49-F238E27FC236}">
                <a16:creationId xmlns:a16="http://schemas.microsoft.com/office/drawing/2014/main" id="{2860CDA9-7ADA-F8DE-5430-57F131DDE332}"/>
              </a:ext>
            </a:extLst>
          </p:cNvPr>
          <p:cNvSpPr txBox="1"/>
          <p:nvPr/>
        </p:nvSpPr>
        <p:spPr>
          <a:xfrm>
            <a:off x="4481814" y="8184355"/>
            <a:ext cx="9767452" cy="3462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94311" lvl="1" algn="ctr">
              <a:lnSpc>
                <a:spcPts val="2700"/>
              </a:lnSpc>
            </a:pPr>
            <a:r>
              <a:rPr lang="en-US" sz="2400" b="1" spc="270" dirty="0">
                <a:solidFill>
                  <a:srgbClr val="22263E"/>
                </a:solidFill>
                <a:latin typeface="Inter"/>
                <a:ea typeface="Inter"/>
                <a:cs typeface="Inter"/>
                <a:sym typeface="Inter"/>
              </a:rPr>
              <a:t>Fig 2: ROS Architecture Diagram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CF21E306-025F-0C9F-DC51-A07381E033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7387" y="2476480"/>
            <a:ext cx="12993226" cy="5707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99708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B2243A-A414-2A02-F4EF-CFB5DC5CCF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C2EE1CDA-7E92-6B3D-9DEB-47E5E49D673F}"/>
              </a:ext>
            </a:extLst>
          </p:cNvPr>
          <p:cNvGrpSpPr/>
          <p:nvPr/>
        </p:nvGrpSpPr>
        <p:grpSpPr>
          <a:xfrm rot="-2211212">
            <a:off x="-2305505" y="-1443650"/>
            <a:ext cx="4019963" cy="4493189"/>
            <a:chOff x="0" y="0"/>
            <a:chExt cx="981327" cy="109684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EC07850D-2914-78EB-EC90-0D0ABCDC27A2}"/>
                </a:ext>
              </a:extLst>
            </p:cNvPr>
            <p:cNvSpPr/>
            <p:nvPr/>
          </p:nvSpPr>
          <p:spPr>
            <a:xfrm>
              <a:off x="0" y="0"/>
              <a:ext cx="981327" cy="1096848"/>
            </a:xfrm>
            <a:custGeom>
              <a:avLst/>
              <a:gdLst/>
              <a:ahLst/>
              <a:cxnLst/>
              <a:rect l="l" t="t" r="r" b="b"/>
              <a:pathLst>
                <a:path w="981327" h="1096848">
                  <a:moveTo>
                    <a:pt x="115552" y="0"/>
                  </a:moveTo>
                  <a:lnTo>
                    <a:pt x="865775" y="0"/>
                  </a:lnTo>
                  <a:cubicBezTo>
                    <a:pt x="896421" y="0"/>
                    <a:pt x="925812" y="12174"/>
                    <a:pt x="947482" y="33844"/>
                  </a:cubicBezTo>
                  <a:cubicBezTo>
                    <a:pt x="969153" y="55515"/>
                    <a:pt x="981327" y="84906"/>
                    <a:pt x="981327" y="115552"/>
                  </a:cubicBezTo>
                  <a:lnTo>
                    <a:pt x="981327" y="981296"/>
                  </a:lnTo>
                  <a:cubicBezTo>
                    <a:pt x="981327" y="1011942"/>
                    <a:pt x="969153" y="1041333"/>
                    <a:pt x="947482" y="1063004"/>
                  </a:cubicBezTo>
                  <a:cubicBezTo>
                    <a:pt x="925812" y="1084674"/>
                    <a:pt x="896421" y="1096848"/>
                    <a:pt x="865775" y="1096848"/>
                  </a:cubicBezTo>
                  <a:lnTo>
                    <a:pt x="115552" y="1096848"/>
                  </a:lnTo>
                  <a:cubicBezTo>
                    <a:pt x="84906" y="1096848"/>
                    <a:pt x="55515" y="1084674"/>
                    <a:pt x="33844" y="1063004"/>
                  </a:cubicBezTo>
                  <a:cubicBezTo>
                    <a:pt x="12174" y="1041333"/>
                    <a:pt x="0" y="1011942"/>
                    <a:pt x="0" y="981296"/>
                  </a:cubicBezTo>
                  <a:lnTo>
                    <a:pt x="0" y="115552"/>
                  </a:lnTo>
                  <a:cubicBezTo>
                    <a:pt x="0" y="84906"/>
                    <a:pt x="12174" y="55515"/>
                    <a:pt x="33844" y="33844"/>
                  </a:cubicBezTo>
                  <a:cubicBezTo>
                    <a:pt x="55515" y="12174"/>
                    <a:pt x="84906" y="0"/>
                    <a:pt x="11555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9FA5C8">
                    <a:alpha val="100000"/>
                  </a:srgbClr>
                </a:gs>
                <a:gs pos="100000">
                  <a:srgbClr val="9FA5C8">
                    <a:alpha val="0"/>
                  </a:srgbClr>
                </a:gs>
              </a:gsLst>
              <a:lin ang="0"/>
            </a:gradFill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B1212EC4-45C2-8C1A-5F9F-C3A6A1E7BC4D}"/>
                </a:ext>
              </a:extLst>
            </p:cNvPr>
            <p:cNvSpPr txBox="1"/>
            <p:nvPr/>
          </p:nvSpPr>
          <p:spPr>
            <a:xfrm>
              <a:off x="0" y="-47625"/>
              <a:ext cx="981327" cy="11444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21946CEF-F8A8-C3A3-2BE1-EDEB54AF14B2}"/>
              </a:ext>
            </a:extLst>
          </p:cNvPr>
          <p:cNvGrpSpPr/>
          <p:nvPr/>
        </p:nvGrpSpPr>
        <p:grpSpPr>
          <a:xfrm rot="-2211212">
            <a:off x="-1449957" y="-3920233"/>
            <a:ext cx="6950422" cy="4493189"/>
            <a:chOff x="0" y="0"/>
            <a:chExt cx="1696691" cy="1096848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201EE164-279A-7FF1-1D51-556D9A5BE4C2}"/>
                </a:ext>
              </a:extLst>
            </p:cNvPr>
            <p:cNvSpPr/>
            <p:nvPr/>
          </p:nvSpPr>
          <p:spPr>
            <a:xfrm>
              <a:off x="0" y="0"/>
              <a:ext cx="1696691" cy="1096848"/>
            </a:xfrm>
            <a:custGeom>
              <a:avLst/>
              <a:gdLst/>
              <a:ahLst/>
              <a:cxnLst/>
              <a:rect l="l" t="t" r="r" b="b"/>
              <a:pathLst>
                <a:path w="1696691" h="1096848">
                  <a:moveTo>
                    <a:pt x="66833" y="0"/>
                  </a:moveTo>
                  <a:lnTo>
                    <a:pt x="1629859" y="0"/>
                  </a:lnTo>
                  <a:cubicBezTo>
                    <a:pt x="1647584" y="0"/>
                    <a:pt x="1664583" y="7041"/>
                    <a:pt x="1677117" y="19575"/>
                  </a:cubicBezTo>
                  <a:cubicBezTo>
                    <a:pt x="1689650" y="32108"/>
                    <a:pt x="1696691" y="49108"/>
                    <a:pt x="1696691" y="66833"/>
                  </a:cubicBezTo>
                  <a:lnTo>
                    <a:pt x="1696691" y="1030015"/>
                  </a:lnTo>
                  <a:cubicBezTo>
                    <a:pt x="1696691" y="1047740"/>
                    <a:pt x="1689650" y="1064740"/>
                    <a:pt x="1677117" y="1077273"/>
                  </a:cubicBezTo>
                  <a:cubicBezTo>
                    <a:pt x="1664583" y="1089807"/>
                    <a:pt x="1647584" y="1096848"/>
                    <a:pt x="1629859" y="1096848"/>
                  </a:cubicBezTo>
                  <a:lnTo>
                    <a:pt x="66833" y="1096848"/>
                  </a:lnTo>
                  <a:cubicBezTo>
                    <a:pt x="49108" y="1096848"/>
                    <a:pt x="32108" y="1089807"/>
                    <a:pt x="19575" y="1077273"/>
                  </a:cubicBezTo>
                  <a:cubicBezTo>
                    <a:pt x="7041" y="1064740"/>
                    <a:pt x="0" y="1047740"/>
                    <a:pt x="0" y="1030015"/>
                  </a:cubicBezTo>
                  <a:lnTo>
                    <a:pt x="0" y="66833"/>
                  </a:lnTo>
                  <a:cubicBezTo>
                    <a:pt x="0" y="49108"/>
                    <a:pt x="7041" y="32108"/>
                    <a:pt x="19575" y="19575"/>
                  </a:cubicBezTo>
                  <a:cubicBezTo>
                    <a:pt x="32108" y="7041"/>
                    <a:pt x="49108" y="0"/>
                    <a:pt x="66833" y="0"/>
                  </a:cubicBezTo>
                  <a:close/>
                </a:path>
              </a:pathLst>
            </a:custGeom>
            <a:solidFill>
              <a:srgbClr val="323B60"/>
            </a:solidFill>
          </p:spPr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413CFA53-0098-E9A4-2B57-FE7EEC19FBBC}"/>
                </a:ext>
              </a:extLst>
            </p:cNvPr>
            <p:cNvSpPr txBox="1"/>
            <p:nvPr/>
          </p:nvSpPr>
          <p:spPr>
            <a:xfrm>
              <a:off x="0" y="-47625"/>
              <a:ext cx="1696691" cy="11444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3B94EEDA-1435-437D-B969-B4FF95F29414}"/>
              </a:ext>
            </a:extLst>
          </p:cNvPr>
          <p:cNvGrpSpPr/>
          <p:nvPr/>
        </p:nvGrpSpPr>
        <p:grpSpPr>
          <a:xfrm rot="-2211212">
            <a:off x="13784089" y="8980678"/>
            <a:ext cx="6950422" cy="4493189"/>
            <a:chOff x="0" y="0"/>
            <a:chExt cx="1696691" cy="1096848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42363113-14A8-AC1E-8762-5956775FB69A}"/>
                </a:ext>
              </a:extLst>
            </p:cNvPr>
            <p:cNvSpPr/>
            <p:nvPr/>
          </p:nvSpPr>
          <p:spPr>
            <a:xfrm>
              <a:off x="0" y="0"/>
              <a:ext cx="1696691" cy="1096848"/>
            </a:xfrm>
            <a:custGeom>
              <a:avLst/>
              <a:gdLst/>
              <a:ahLst/>
              <a:cxnLst/>
              <a:rect l="l" t="t" r="r" b="b"/>
              <a:pathLst>
                <a:path w="1696691" h="1096848">
                  <a:moveTo>
                    <a:pt x="66833" y="0"/>
                  </a:moveTo>
                  <a:lnTo>
                    <a:pt x="1629859" y="0"/>
                  </a:lnTo>
                  <a:cubicBezTo>
                    <a:pt x="1647584" y="0"/>
                    <a:pt x="1664583" y="7041"/>
                    <a:pt x="1677117" y="19575"/>
                  </a:cubicBezTo>
                  <a:cubicBezTo>
                    <a:pt x="1689650" y="32108"/>
                    <a:pt x="1696691" y="49108"/>
                    <a:pt x="1696691" y="66833"/>
                  </a:cubicBezTo>
                  <a:lnTo>
                    <a:pt x="1696691" y="1030015"/>
                  </a:lnTo>
                  <a:cubicBezTo>
                    <a:pt x="1696691" y="1047740"/>
                    <a:pt x="1689650" y="1064740"/>
                    <a:pt x="1677117" y="1077273"/>
                  </a:cubicBezTo>
                  <a:cubicBezTo>
                    <a:pt x="1664583" y="1089807"/>
                    <a:pt x="1647584" y="1096848"/>
                    <a:pt x="1629859" y="1096848"/>
                  </a:cubicBezTo>
                  <a:lnTo>
                    <a:pt x="66833" y="1096848"/>
                  </a:lnTo>
                  <a:cubicBezTo>
                    <a:pt x="49108" y="1096848"/>
                    <a:pt x="32108" y="1089807"/>
                    <a:pt x="19575" y="1077273"/>
                  </a:cubicBezTo>
                  <a:cubicBezTo>
                    <a:pt x="7041" y="1064740"/>
                    <a:pt x="0" y="1047740"/>
                    <a:pt x="0" y="1030015"/>
                  </a:cubicBezTo>
                  <a:lnTo>
                    <a:pt x="0" y="66833"/>
                  </a:lnTo>
                  <a:cubicBezTo>
                    <a:pt x="0" y="49108"/>
                    <a:pt x="7041" y="32108"/>
                    <a:pt x="19575" y="19575"/>
                  </a:cubicBezTo>
                  <a:cubicBezTo>
                    <a:pt x="32108" y="7041"/>
                    <a:pt x="49108" y="0"/>
                    <a:pt x="66833" y="0"/>
                  </a:cubicBezTo>
                  <a:close/>
                </a:path>
              </a:pathLst>
            </a:custGeom>
            <a:solidFill>
              <a:srgbClr val="323B60"/>
            </a:solidFill>
          </p:spPr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28D2C9CA-547A-FC1E-4103-CD1F4B3CC58A}"/>
                </a:ext>
              </a:extLst>
            </p:cNvPr>
            <p:cNvSpPr txBox="1"/>
            <p:nvPr/>
          </p:nvSpPr>
          <p:spPr>
            <a:xfrm>
              <a:off x="0" y="-47625"/>
              <a:ext cx="1696691" cy="11444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16" name="TextBox 16">
            <a:extLst>
              <a:ext uri="{FF2B5EF4-FFF2-40B4-BE49-F238E27FC236}">
                <a16:creationId xmlns:a16="http://schemas.microsoft.com/office/drawing/2014/main" id="{BF0BF21C-983E-E120-B78F-90C6885B32BB}"/>
              </a:ext>
            </a:extLst>
          </p:cNvPr>
          <p:cNvSpPr txBox="1"/>
          <p:nvPr/>
        </p:nvSpPr>
        <p:spPr>
          <a:xfrm>
            <a:off x="2660250" y="952500"/>
            <a:ext cx="13534046" cy="10259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ctr">
              <a:lnSpc>
                <a:spcPts val="8000"/>
              </a:lnSpc>
            </a:pPr>
            <a:r>
              <a:rPr lang="en-US" sz="8000" b="1" spc="160" dirty="0">
                <a:solidFill>
                  <a:srgbClr val="4B548B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METHODOLOGY</a:t>
            </a:r>
          </a:p>
        </p:txBody>
      </p:sp>
      <p:sp>
        <p:nvSpPr>
          <p:cNvPr id="11" name="TextBox 16">
            <a:extLst>
              <a:ext uri="{FF2B5EF4-FFF2-40B4-BE49-F238E27FC236}">
                <a16:creationId xmlns:a16="http://schemas.microsoft.com/office/drawing/2014/main" id="{C5FB08AA-FFAF-CD06-419C-194F7AD95CCA}"/>
              </a:ext>
            </a:extLst>
          </p:cNvPr>
          <p:cNvSpPr txBox="1"/>
          <p:nvPr/>
        </p:nvSpPr>
        <p:spPr>
          <a:xfrm>
            <a:off x="876300" y="3002654"/>
            <a:ext cx="16535400" cy="6924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94311" lvl="1" algn="just">
              <a:lnSpc>
                <a:spcPts val="2700"/>
              </a:lnSpc>
            </a:pPr>
            <a:r>
              <a:rPr lang="en-US" sz="2400" b="1" spc="270" dirty="0">
                <a:solidFill>
                  <a:srgbClr val="22263E"/>
                </a:solidFill>
                <a:latin typeface="Inter"/>
                <a:ea typeface="Inter"/>
                <a:cs typeface="Inter"/>
                <a:sym typeface="Inter"/>
              </a:rPr>
              <a:t>A Finite State Machine (FSM) is a control model that describes system behavior using a finite number of states and rules for switching between them based on conditions or events.</a:t>
            </a:r>
          </a:p>
        </p:txBody>
      </p:sp>
      <p:sp>
        <p:nvSpPr>
          <p:cNvPr id="12" name="TextBox 16">
            <a:extLst>
              <a:ext uri="{FF2B5EF4-FFF2-40B4-BE49-F238E27FC236}">
                <a16:creationId xmlns:a16="http://schemas.microsoft.com/office/drawing/2014/main" id="{6C1CC898-9272-26ED-B2A8-20B89B3F9BC5}"/>
              </a:ext>
            </a:extLst>
          </p:cNvPr>
          <p:cNvSpPr txBox="1"/>
          <p:nvPr/>
        </p:nvSpPr>
        <p:spPr>
          <a:xfrm>
            <a:off x="876300" y="3999463"/>
            <a:ext cx="6324600" cy="13849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94311" lvl="1" algn="just">
              <a:lnSpc>
                <a:spcPts val="2700"/>
              </a:lnSpc>
            </a:pPr>
            <a:r>
              <a:rPr lang="en-US" sz="2400" b="1" spc="270" dirty="0">
                <a:solidFill>
                  <a:srgbClr val="22263E"/>
                </a:solidFill>
                <a:latin typeface="Inter"/>
                <a:ea typeface="Inter"/>
                <a:cs typeface="Inter"/>
                <a:sym typeface="Inter"/>
              </a:rPr>
              <a:t>It is widely used in robotics for:</a:t>
            </a:r>
          </a:p>
          <a:p>
            <a:pPr marL="537211" lvl="1" indent="-342900" algn="just">
              <a:lnSpc>
                <a:spcPts val="2700"/>
              </a:lnSpc>
              <a:buFont typeface="Arial" panose="020B0604020202020204" pitchFamily="34" charset="0"/>
              <a:buChar char="•"/>
            </a:pPr>
            <a:r>
              <a:rPr lang="en-US" sz="2400" b="1" spc="270" dirty="0">
                <a:solidFill>
                  <a:srgbClr val="22263E"/>
                </a:solidFill>
                <a:latin typeface="Inter"/>
                <a:ea typeface="Inter"/>
                <a:cs typeface="Inter"/>
                <a:sym typeface="Inter"/>
              </a:rPr>
              <a:t>Decision making</a:t>
            </a:r>
          </a:p>
          <a:p>
            <a:pPr marL="537211" lvl="1" indent="-342900" algn="just">
              <a:lnSpc>
                <a:spcPts val="2700"/>
              </a:lnSpc>
              <a:buFont typeface="Arial" panose="020B0604020202020204" pitchFamily="34" charset="0"/>
              <a:buChar char="•"/>
            </a:pPr>
            <a:r>
              <a:rPr lang="en-US" sz="2400" b="1" spc="270" dirty="0">
                <a:solidFill>
                  <a:srgbClr val="22263E"/>
                </a:solidFill>
                <a:latin typeface="Inter"/>
                <a:ea typeface="Inter"/>
                <a:cs typeface="Inter"/>
                <a:sym typeface="Inter"/>
              </a:rPr>
              <a:t>Behavior sequencing</a:t>
            </a:r>
          </a:p>
          <a:p>
            <a:pPr marL="537211" lvl="1" indent="-342900" algn="just">
              <a:lnSpc>
                <a:spcPts val="2700"/>
              </a:lnSpc>
              <a:buFont typeface="Arial" panose="020B0604020202020204" pitchFamily="34" charset="0"/>
              <a:buChar char="•"/>
            </a:pPr>
            <a:r>
              <a:rPr lang="en-US" sz="2400" b="1" spc="270" dirty="0">
                <a:solidFill>
                  <a:srgbClr val="22263E"/>
                </a:solidFill>
                <a:latin typeface="Inter"/>
                <a:ea typeface="Inter"/>
                <a:cs typeface="Inter"/>
                <a:sym typeface="Inter"/>
              </a:rPr>
              <a:t>Mode switching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5D3616E-5AC2-6AC0-C255-3BD8707131BB}"/>
              </a:ext>
            </a:extLst>
          </p:cNvPr>
          <p:cNvSpPr txBox="1"/>
          <p:nvPr/>
        </p:nvSpPr>
        <p:spPr>
          <a:xfrm>
            <a:off x="76200" y="1913087"/>
            <a:ext cx="8256416" cy="977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ts val="8000"/>
              </a:lnSpc>
            </a:pPr>
            <a:r>
              <a:rPr lang="en-US" sz="3600" b="1" spc="160" dirty="0">
                <a:solidFill>
                  <a:srgbClr val="4B548B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Finite State Machine (FSM)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9838EE1-B34F-A828-BE0E-7FC70F5AFB2F}"/>
              </a:ext>
            </a:extLst>
          </p:cNvPr>
          <p:cNvSpPr txBox="1"/>
          <p:nvPr/>
        </p:nvSpPr>
        <p:spPr>
          <a:xfrm>
            <a:off x="876300" y="6707598"/>
            <a:ext cx="8001000" cy="24237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37211" lvl="1" indent="-342900">
              <a:lnSpc>
                <a:spcPts val="2700"/>
              </a:lnSpc>
              <a:buFont typeface="Arial" panose="020B0604020202020204" pitchFamily="34" charset="0"/>
              <a:buChar char="•"/>
            </a:pPr>
            <a:r>
              <a:rPr lang="en-US" sz="2400" b="1" spc="270" dirty="0">
                <a:solidFill>
                  <a:srgbClr val="22263E"/>
                </a:solidFill>
                <a:latin typeface="Inter"/>
                <a:ea typeface="Inter"/>
                <a:cs typeface="Inter"/>
                <a:sym typeface="Inter"/>
              </a:rPr>
              <a:t>Each state sends different velocity commands</a:t>
            </a:r>
          </a:p>
          <a:p>
            <a:pPr marL="537211" lvl="1" indent="-342900">
              <a:lnSpc>
                <a:spcPts val="2700"/>
              </a:lnSpc>
              <a:buFont typeface="Arial" panose="020B0604020202020204" pitchFamily="34" charset="0"/>
              <a:buChar char="•"/>
            </a:pPr>
            <a:r>
              <a:rPr lang="en-US" sz="2400" b="1" spc="270" dirty="0">
                <a:solidFill>
                  <a:srgbClr val="22263E"/>
                </a:solidFill>
                <a:latin typeface="Inter"/>
                <a:ea typeface="Inter"/>
                <a:cs typeface="Inter"/>
                <a:sym typeface="Inter"/>
              </a:rPr>
              <a:t>Transitions are based on:</a:t>
            </a:r>
          </a:p>
          <a:p>
            <a:pPr marL="194311" lvl="1">
              <a:lnSpc>
                <a:spcPts val="2700"/>
              </a:lnSpc>
            </a:pPr>
            <a:r>
              <a:rPr lang="en-US" sz="2400" b="1" spc="270" dirty="0">
                <a:solidFill>
                  <a:srgbClr val="22263E"/>
                </a:solidFill>
                <a:latin typeface="Inter"/>
                <a:ea typeface="Inter"/>
                <a:cs typeface="Inter"/>
                <a:sym typeface="Inter"/>
              </a:rPr>
              <a:t>	Obstacle detection</a:t>
            </a:r>
          </a:p>
          <a:p>
            <a:pPr marL="194311" lvl="1">
              <a:lnSpc>
                <a:spcPts val="2700"/>
              </a:lnSpc>
            </a:pPr>
            <a:r>
              <a:rPr lang="en-US" sz="2400" b="1" spc="270" dirty="0">
                <a:solidFill>
                  <a:srgbClr val="22263E"/>
                </a:solidFill>
                <a:latin typeface="Inter"/>
                <a:ea typeface="Inter"/>
                <a:cs typeface="Inter"/>
                <a:sym typeface="Inter"/>
              </a:rPr>
              <a:t>	Fixed timing conditions</a:t>
            </a:r>
          </a:p>
          <a:p>
            <a:pPr marL="537211" lvl="1" indent="-342900">
              <a:lnSpc>
                <a:spcPts val="2700"/>
              </a:lnSpc>
              <a:buFont typeface="Arial" panose="020B0604020202020204" pitchFamily="34" charset="0"/>
              <a:buChar char="•"/>
            </a:pPr>
            <a:r>
              <a:rPr lang="en-US" sz="2400" b="1" spc="270" dirty="0">
                <a:solidFill>
                  <a:srgbClr val="22263E"/>
                </a:solidFill>
                <a:latin typeface="Inter"/>
                <a:ea typeface="Inter"/>
                <a:cs typeface="Inter"/>
                <a:sym typeface="Inter"/>
              </a:rPr>
              <a:t>Only the LANE FOLLOW state uses PID control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D73F4BCA-006F-A454-3E2A-C396129470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0" y="4152900"/>
            <a:ext cx="3956658" cy="5476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92469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43FD75-5F98-5256-BCFC-A459857213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A1A9B7C-B03D-8B57-4834-1DE98E6CBF80}"/>
              </a:ext>
            </a:extLst>
          </p:cNvPr>
          <p:cNvGrpSpPr/>
          <p:nvPr/>
        </p:nvGrpSpPr>
        <p:grpSpPr>
          <a:xfrm rot="-2211212">
            <a:off x="-2305505" y="-1443650"/>
            <a:ext cx="4019963" cy="4493189"/>
            <a:chOff x="0" y="0"/>
            <a:chExt cx="981327" cy="109684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1DD3F5BC-6785-7B04-4D77-F0A5F825BF2B}"/>
                </a:ext>
              </a:extLst>
            </p:cNvPr>
            <p:cNvSpPr/>
            <p:nvPr/>
          </p:nvSpPr>
          <p:spPr>
            <a:xfrm>
              <a:off x="0" y="0"/>
              <a:ext cx="981327" cy="1096848"/>
            </a:xfrm>
            <a:custGeom>
              <a:avLst/>
              <a:gdLst/>
              <a:ahLst/>
              <a:cxnLst/>
              <a:rect l="l" t="t" r="r" b="b"/>
              <a:pathLst>
                <a:path w="981327" h="1096848">
                  <a:moveTo>
                    <a:pt x="115552" y="0"/>
                  </a:moveTo>
                  <a:lnTo>
                    <a:pt x="865775" y="0"/>
                  </a:lnTo>
                  <a:cubicBezTo>
                    <a:pt x="896421" y="0"/>
                    <a:pt x="925812" y="12174"/>
                    <a:pt x="947482" y="33844"/>
                  </a:cubicBezTo>
                  <a:cubicBezTo>
                    <a:pt x="969153" y="55515"/>
                    <a:pt x="981327" y="84906"/>
                    <a:pt x="981327" y="115552"/>
                  </a:cubicBezTo>
                  <a:lnTo>
                    <a:pt x="981327" y="981296"/>
                  </a:lnTo>
                  <a:cubicBezTo>
                    <a:pt x="981327" y="1011942"/>
                    <a:pt x="969153" y="1041333"/>
                    <a:pt x="947482" y="1063004"/>
                  </a:cubicBezTo>
                  <a:cubicBezTo>
                    <a:pt x="925812" y="1084674"/>
                    <a:pt x="896421" y="1096848"/>
                    <a:pt x="865775" y="1096848"/>
                  </a:cubicBezTo>
                  <a:lnTo>
                    <a:pt x="115552" y="1096848"/>
                  </a:lnTo>
                  <a:cubicBezTo>
                    <a:pt x="84906" y="1096848"/>
                    <a:pt x="55515" y="1084674"/>
                    <a:pt x="33844" y="1063004"/>
                  </a:cubicBezTo>
                  <a:cubicBezTo>
                    <a:pt x="12174" y="1041333"/>
                    <a:pt x="0" y="1011942"/>
                    <a:pt x="0" y="981296"/>
                  </a:cubicBezTo>
                  <a:lnTo>
                    <a:pt x="0" y="115552"/>
                  </a:lnTo>
                  <a:cubicBezTo>
                    <a:pt x="0" y="84906"/>
                    <a:pt x="12174" y="55515"/>
                    <a:pt x="33844" y="33844"/>
                  </a:cubicBezTo>
                  <a:cubicBezTo>
                    <a:pt x="55515" y="12174"/>
                    <a:pt x="84906" y="0"/>
                    <a:pt x="11555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9FA5C8">
                    <a:alpha val="100000"/>
                  </a:srgbClr>
                </a:gs>
                <a:gs pos="100000">
                  <a:srgbClr val="9FA5C8">
                    <a:alpha val="0"/>
                  </a:srgbClr>
                </a:gs>
              </a:gsLst>
              <a:lin ang="0"/>
            </a:gradFill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CBD9BAB8-D967-76A1-B459-7E189821B38C}"/>
                </a:ext>
              </a:extLst>
            </p:cNvPr>
            <p:cNvSpPr txBox="1"/>
            <p:nvPr/>
          </p:nvSpPr>
          <p:spPr>
            <a:xfrm>
              <a:off x="0" y="-47625"/>
              <a:ext cx="981327" cy="11444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C6F08C69-4C2C-BCE7-6804-D9B54C1F5D03}"/>
              </a:ext>
            </a:extLst>
          </p:cNvPr>
          <p:cNvGrpSpPr/>
          <p:nvPr/>
        </p:nvGrpSpPr>
        <p:grpSpPr>
          <a:xfrm rot="-2211212">
            <a:off x="-1449957" y="-3920233"/>
            <a:ext cx="6950422" cy="4493189"/>
            <a:chOff x="0" y="0"/>
            <a:chExt cx="1696691" cy="1096848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4D5CFC98-9627-9B12-D71D-820C7696928F}"/>
                </a:ext>
              </a:extLst>
            </p:cNvPr>
            <p:cNvSpPr/>
            <p:nvPr/>
          </p:nvSpPr>
          <p:spPr>
            <a:xfrm>
              <a:off x="0" y="0"/>
              <a:ext cx="1696691" cy="1096848"/>
            </a:xfrm>
            <a:custGeom>
              <a:avLst/>
              <a:gdLst/>
              <a:ahLst/>
              <a:cxnLst/>
              <a:rect l="l" t="t" r="r" b="b"/>
              <a:pathLst>
                <a:path w="1696691" h="1096848">
                  <a:moveTo>
                    <a:pt x="66833" y="0"/>
                  </a:moveTo>
                  <a:lnTo>
                    <a:pt x="1629859" y="0"/>
                  </a:lnTo>
                  <a:cubicBezTo>
                    <a:pt x="1647584" y="0"/>
                    <a:pt x="1664583" y="7041"/>
                    <a:pt x="1677117" y="19575"/>
                  </a:cubicBezTo>
                  <a:cubicBezTo>
                    <a:pt x="1689650" y="32108"/>
                    <a:pt x="1696691" y="49108"/>
                    <a:pt x="1696691" y="66833"/>
                  </a:cubicBezTo>
                  <a:lnTo>
                    <a:pt x="1696691" y="1030015"/>
                  </a:lnTo>
                  <a:cubicBezTo>
                    <a:pt x="1696691" y="1047740"/>
                    <a:pt x="1689650" y="1064740"/>
                    <a:pt x="1677117" y="1077273"/>
                  </a:cubicBezTo>
                  <a:cubicBezTo>
                    <a:pt x="1664583" y="1089807"/>
                    <a:pt x="1647584" y="1096848"/>
                    <a:pt x="1629859" y="1096848"/>
                  </a:cubicBezTo>
                  <a:lnTo>
                    <a:pt x="66833" y="1096848"/>
                  </a:lnTo>
                  <a:cubicBezTo>
                    <a:pt x="49108" y="1096848"/>
                    <a:pt x="32108" y="1089807"/>
                    <a:pt x="19575" y="1077273"/>
                  </a:cubicBezTo>
                  <a:cubicBezTo>
                    <a:pt x="7041" y="1064740"/>
                    <a:pt x="0" y="1047740"/>
                    <a:pt x="0" y="1030015"/>
                  </a:cubicBezTo>
                  <a:lnTo>
                    <a:pt x="0" y="66833"/>
                  </a:lnTo>
                  <a:cubicBezTo>
                    <a:pt x="0" y="49108"/>
                    <a:pt x="7041" y="32108"/>
                    <a:pt x="19575" y="19575"/>
                  </a:cubicBezTo>
                  <a:cubicBezTo>
                    <a:pt x="32108" y="7041"/>
                    <a:pt x="49108" y="0"/>
                    <a:pt x="66833" y="0"/>
                  </a:cubicBezTo>
                  <a:close/>
                </a:path>
              </a:pathLst>
            </a:custGeom>
            <a:solidFill>
              <a:srgbClr val="323B60"/>
            </a:solidFill>
          </p:spPr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7EEF3A59-35F8-606D-F321-35A07FF158EF}"/>
                </a:ext>
              </a:extLst>
            </p:cNvPr>
            <p:cNvSpPr txBox="1"/>
            <p:nvPr/>
          </p:nvSpPr>
          <p:spPr>
            <a:xfrm>
              <a:off x="0" y="-47625"/>
              <a:ext cx="1696691" cy="11444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7E68BC54-277A-94AF-2814-9C7EE47EC3E8}"/>
              </a:ext>
            </a:extLst>
          </p:cNvPr>
          <p:cNvGrpSpPr/>
          <p:nvPr/>
        </p:nvGrpSpPr>
        <p:grpSpPr>
          <a:xfrm rot="-2211212">
            <a:off x="13784089" y="8980678"/>
            <a:ext cx="6950422" cy="4493189"/>
            <a:chOff x="0" y="0"/>
            <a:chExt cx="1696691" cy="1096848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61EB4DD2-5AD1-85FE-5B51-85E18C2A148C}"/>
                </a:ext>
              </a:extLst>
            </p:cNvPr>
            <p:cNvSpPr/>
            <p:nvPr/>
          </p:nvSpPr>
          <p:spPr>
            <a:xfrm>
              <a:off x="0" y="0"/>
              <a:ext cx="1696691" cy="1096848"/>
            </a:xfrm>
            <a:custGeom>
              <a:avLst/>
              <a:gdLst/>
              <a:ahLst/>
              <a:cxnLst/>
              <a:rect l="l" t="t" r="r" b="b"/>
              <a:pathLst>
                <a:path w="1696691" h="1096848">
                  <a:moveTo>
                    <a:pt x="66833" y="0"/>
                  </a:moveTo>
                  <a:lnTo>
                    <a:pt x="1629859" y="0"/>
                  </a:lnTo>
                  <a:cubicBezTo>
                    <a:pt x="1647584" y="0"/>
                    <a:pt x="1664583" y="7041"/>
                    <a:pt x="1677117" y="19575"/>
                  </a:cubicBezTo>
                  <a:cubicBezTo>
                    <a:pt x="1689650" y="32108"/>
                    <a:pt x="1696691" y="49108"/>
                    <a:pt x="1696691" y="66833"/>
                  </a:cubicBezTo>
                  <a:lnTo>
                    <a:pt x="1696691" y="1030015"/>
                  </a:lnTo>
                  <a:cubicBezTo>
                    <a:pt x="1696691" y="1047740"/>
                    <a:pt x="1689650" y="1064740"/>
                    <a:pt x="1677117" y="1077273"/>
                  </a:cubicBezTo>
                  <a:cubicBezTo>
                    <a:pt x="1664583" y="1089807"/>
                    <a:pt x="1647584" y="1096848"/>
                    <a:pt x="1629859" y="1096848"/>
                  </a:cubicBezTo>
                  <a:lnTo>
                    <a:pt x="66833" y="1096848"/>
                  </a:lnTo>
                  <a:cubicBezTo>
                    <a:pt x="49108" y="1096848"/>
                    <a:pt x="32108" y="1089807"/>
                    <a:pt x="19575" y="1077273"/>
                  </a:cubicBezTo>
                  <a:cubicBezTo>
                    <a:pt x="7041" y="1064740"/>
                    <a:pt x="0" y="1047740"/>
                    <a:pt x="0" y="1030015"/>
                  </a:cubicBezTo>
                  <a:lnTo>
                    <a:pt x="0" y="66833"/>
                  </a:lnTo>
                  <a:cubicBezTo>
                    <a:pt x="0" y="49108"/>
                    <a:pt x="7041" y="32108"/>
                    <a:pt x="19575" y="19575"/>
                  </a:cubicBezTo>
                  <a:cubicBezTo>
                    <a:pt x="32108" y="7041"/>
                    <a:pt x="49108" y="0"/>
                    <a:pt x="66833" y="0"/>
                  </a:cubicBezTo>
                  <a:close/>
                </a:path>
              </a:pathLst>
            </a:custGeom>
            <a:solidFill>
              <a:srgbClr val="323B60"/>
            </a:solidFill>
          </p:spPr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3D3F525B-688B-4BC6-668D-BF3AE0F17AAA}"/>
                </a:ext>
              </a:extLst>
            </p:cNvPr>
            <p:cNvSpPr txBox="1"/>
            <p:nvPr/>
          </p:nvSpPr>
          <p:spPr>
            <a:xfrm>
              <a:off x="0" y="-47625"/>
              <a:ext cx="1696691" cy="11444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16" name="TextBox 16">
            <a:extLst>
              <a:ext uri="{FF2B5EF4-FFF2-40B4-BE49-F238E27FC236}">
                <a16:creationId xmlns:a16="http://schemas.microsoft.com/office/drawing/2014/main" id="{B333D76A-C0E2-7AC8-A753-828C9AF8B9C9}"/>
              </a:ext>
            </a:extLst>
          </p:cNvPr>
          <p:cNvSpPr txBox="1"/>
          <p:nvPr/>
        </p:nvSpPr>
        <p:spPr>
          <a:xfrm>
            <a:off x="3153754" y="1128855"/>
            <a:ext cx="11980492" cy="10259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ctr">
              <a:lnSpc>
                <a:spcPts val="8000"/>
              </a:lnSpc>
            </a:pPr>
            <a:r>
              <a:rPr lang="en-US" sz="8000" b="1" spc="160" dirty="0">
                <a:solidFill>
                  <a:srgbClr val="4B548B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METHODOLOGY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B407780-9880-307C-B52D-DFC387CD492A}"/>
              </a:ext>
            </a:extLst>
          </p:cNvPr>
          <p:cNvSpPr txBox="1"/>
          <p:nvPr/>
        </p:nvSpPr>
        <p:spPr>
          <a:xfrm>
            <a:off x="1072752" y="2030053"/>
            <a:ext cx="12058340" cy="977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ts val="8000"/>
              </a:lnSpc>
            </a:pPr>
            <a:r>
              <a:rPr lang="fr-FR" sz="3600" b="1" spc="160" dirty="0" err="1">
                <a:solidFill>
                  <a:srgbClr val="4B548B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Sensor</a:t>
            </a:r>
            <a:r>
              <a:rPr lang="fr-FR" sz="3600" b="1" spc="160" dirty="0">
                <a:solidFill>
                  <a:srgbClr val="4B548B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 Fusion for Obstacle </a:t>
            </a:r>
            <a:r>
              <a:rPr lang="fr-FR" sz="3600" b="1" spc="160" dirty="0" err="1">
                <a:solidFill>
                  <a:srgbClr val="4B548B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Detection</a:t>
            </a:r>
            <a:endParaRPr lang="en-US" sz="3600" b="1" spc="160" dirty="0">
              <a:solidFill>
                <a:srgbClr val="4B548B"/>
              </a:solidFill>
              <a:latin typeface="Glacial Indifference Bold"/>
              <a:ea typeface="Glacial Indifference Bold"/>
              <a:cs typeface="Glacial Indifference Bold"/>
              <a:sym typeface="Glacial Indifference Bold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174B203-969B-51F3-5158-20F1A55B47FE}"/>
              </a:ext>
            </a:extLst>
          </p:cNvPr>
          <p:cNvSpPr txBox="1"/>
          <p:nvPr/>
        </p:nvSpPr>
        <p:spPr>
          <a:xfrm>
            <a:off x="514066" y="3193623"/>
            <a:ext cx="8991600" cy="31162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94311" lvl="1">
              <a:lnSpc>
                <a:spcPts val="2700"/>
              </a:lnSpc>
            </a:pPr>
            <a:r>
              <a:rPr lang="en-US" sz="2400" b="1" spc="270" dirty="0">
                <a:solidFill>
                  <a:srgbClr val="22263E"/>
                </a:solidFill>
                <a:latin typeface="Inter"/>
                <a:ea typeface="Inter"/>
                <a:cs typeface="Inter"/>
                <a:sym typeface="Inter"/>
              </a:rPr>
              <a:t>Camera (Vision Sensor)</a:t>
            </a:r>
          </a:p>
          <a:p>
            <a:pPr marL="537211" lvl="1" indent="-342900">
              <a:lnSpc>
                <a:spcPts val="2700"/>
              </a:lnSpc>
              <a:buFont typeface="Arial" panose="020B0604020202020204" pitchFamily="34" charset="0"/>
              <a:buChar char="•"/>
            </a:pPr>
            <a:r>
              <a:rPr lang="en-US" sz="2400" b="1" spc="270" dirty="0">
                <a:solidFill>
                  <a:srgbClr val="22263E"/>
                </a:solidFill>
                <a:latin typeface="Inter"/>
                <a:ea typeface="Inter"/>
                <a:cs typeface="Inter"/>
                <a:sym typeface="Inter"/>
              </a:rPr>
              <a:t>Captures real-time images of the environment</a:t>
            </a:r>
          </a:p>
          <a:p>
            <a:pPr marL="537211" lvl="1" indent="-342900">
              <a:lnSpc>
                <a:spcPts val="2700"/>
              </a:lnSpc>
              <a:buFont typeface="Arial" panose="020B0604020202020204" pitchFamily="34" charset="0"/>
              <a:buChar char="•"/>
            </a:pPr>
            <a:r>
              <a:rPr lang="en-US" sz="2400" b="1" spc="270" dirty="0">
                <a:solidFill>
                  <a:srgbClr val="22263E"/>
                </a:solidFill>
                <a:latin typeface="Inter"/>
                <a:ea typeface="Inter"/>
                <a:cs typeface="Inter"/>
                <a:sym typeface="Inter"/>
              </a:rPr>
              <a:t>Used for </a:t>
            </a:r>
            <a:r>
              <a:rPr lang="en-US" sz="2400" b="1" spc="270" dirty="0" err="1">
                <a:solidFill>
                  <a:srgbClr val="22263E"/>
                </a:solidFill>
                <a:latin typeface="Inter"/>
                <a:ea typeface="Inter"/>
                <a:cs typeface="Inter"/>
                <a:sym typeface="Inter"/>
              </a:rPr>
              <a:t>Duckiebot</a:t>
            </a:r>
            <a:r>
              <a:rPr lang="en-US" sz="2400" b="1" spc="270" dirty="0">
                <a:solidFill>
                  <a:srgbClr val="22263E"/>
                </a:solidFill>
                <a:latin typeface="Inter"/>
                <a:ea typeface="Inter"/>
                <a:cs typeface="Inter"/>
                <a:sym typeface="Inter"/>
              </a:rPr>
              <a:t> detection only</a:t>
            </a:r>
          </a:p>
          <a:p>
            <a:pPr marL="537211" lvl="1" indent="-342900">
              <a:lnSpc>
                <a:spcPts val="2700"/>
              </a:lnSpc>
              <a:buFont typeface="Arial" panose="020B0604020202020204" pitchFamily="34" charset="0"/>
              <a:buChar char="•"/>
            </a:pPr>
            <a:r>
              <a:rPr lang="en-US" sz="2400" b="1" spc="270" dirty="0">
                <a:solidFill>
                  <a:srgbClr val="22263E"/>
                </a:solidFill>
                <a:latin typeface="Inter"/>
                <a:ea typeface="Inter"/>
                <a:cs typeface="Inter"/>
                <a:sym typeface="Inter"/>
              </a:rPr>
              <a:t>Detects the characteristic rear dot pattern of </a:t>
            </a:r>
            <a:r>
              <a:rPr lang="en-US" sz="2400" b="1" spc="270" dirty="0" err="1">
                <a:solidFill>
                  <a:srgbClr val="22263E"/>
                </a:solidFill>
                <a:latin typeface="Inter"/>
                <a:ea typeface="Inter"/>
                <a:cs typeface="Inter"/>
                <a:sym typeface="Inter"/>
              </a:rPr>
              <a:t>Duckiebots</a:t>
            </a:r>
            <a:endParaRPr lang="en-US" sz="2400" b="1" spc="270" dirty="0">
              <a:solidFill>
                <a:srgbClr val="22263E"/>
              </a:solidFill>
              <a:latin typeface="Inter"/>
              <a:ea typeface="Inter"/>
              <a:cs typeface="Inter"/>
              <a:sym typeface="Inter"/>
            </a:endParaRPr>
          </a:p>
          <a:p>
            <a:pPr marL="537211" lvl="1" indent="-342900">
              <a:lnSpc>
                <a:spcPts val="2700"/>
              </a:lnSpc>
              <a:buFont typeface="Arial" panose="020B0604020202020204" pitchFamily="34" charset="0"/>
              <a:buChar char="•"/>
            </a:pPr>
            <a:r>
              <a:rPr lang="en-US" sz="2400" b="1" spc="270" dirty="0">
                <a:solidFill>
                  <a:srgbClr val="22263E"/>
                </a:solidFill>
                <a:latin typeface="Inter"/>
                <a:ea typeface="Inter"/>
                <a:cs typeface="Inter"/>
                <a:sym typeface="Inter"/>
              </a:rPr>
              <a:t>Output Topic: /</a:t>
            </a:r>
            <a:r>
              <a:rPr lang="en-US" sz="2400" b="1" spc="270" dirty="0" err="1">
                <a:solidFill>
                  <a:srgbClr val="22263E"/>
                </a:solidFill>
                <a:latin typeface="Inter"/>
                <a:ea typeface="Inter"/>
                <a:cs typeface="Inter"/>
                <a:sym typeface="Inter"/>
              </a:rPr>
              <a:t>vehicle_detection_node</a:t>
            </a:r>
            <a:r>
              <a:rPr lang="en-US" sz="2400" b="1" spc="270" dirty="0">
                <a:solidFill>
                  <a:srgbClr val="22263E"/>
                </a:solidFill>
                <a:latin typeface="Inter"/>
                <a:ea typeface="Inter"/>
                <a:cs typeface="Inter"/>
                <a:sym typeface="Inter"/>
              </a:rPr>
              <a:t>/centers</a:t>
            </a:r>
          </a:p>
          <a:p>
            <a:pPr marL="194311" lvl="1">
              <a:lnSpc>
                <a:spcPts val="2700"/>
              </a:lnSpc>
            </a:pPr>
            <a:r>
              <a:rPr lang="en-US" sz="2400" b="1" spc="270" dirty="0">
                <a:solidFill>
                  <a:srgbClr val="22263E"/>
                </a:solidFill>
                <a:latin typeface="Inter"/>
                <a:ea typeface="Inter"/>
                <a:cs typeface="Inter"/>
                <a:sym typeface="Inter"/>
              </a:rPr>
              <a:t>	Provides a Boolean flag:</a:t>
            </a:r>
          </a:p>
          <a:p>
            <a:pPr marL="194311" lvl="1">
              <a:lnSpc>
                <a:spcPts val="2700"/>
              </a:lnSpc>
            </a:pPr>
            <a:r>
              <a:rPr lang="en-US" sz="2400" b="1" spc="270" dirty="0">
                <a:solidFill>
                  <a:srgbClr val="22263E"/>
                </a:solidFill>
                <a:latin typeface="Inter"/>
                <a:ea typeface="Inter"/>
                <a:cs typeface="Inter"/>
                <a:sym typeface="Inter"/>
              </a:rPr>
              <a:t>	True → </a:t>
            </a:r>
            <a:r>
              <a:rPr lang="en-US" sz="2400" b="1" spc="270" dirty="0" err="1">
                <a:solidFill>
                  <a:srgbClr val="22263E"/>
                </a:solidFill>
                <a:latin typeface="Inter"/>
                <a:ea typeface="Inter"/>
                <a:cs typeface="Inter"/>
                <a:sym typeface="Inter"/>
              </a:rPr>
              <a:t>Duckiebot</a:t>
            </a:r>
            <a:r>
              <a:rPr lang="en-US" sz="2400" b="1" spc="270" dirty="0">
                <a:solidFill>
                  <a:srgbClr val="22263E"/>
                </a:solidFill>
                <a:latin typeface="Inter"/>
                <a:ea typeface="Inter"/>
                <a:cs typeface="Inter"/>
                <a:sym typeface="Inter"/>
              </a:rPr>
              <a:t> detected</a:t>
            </a:r>
          </a:p>
          <a:p>
            <a:pPr marL="194311" lvl="1">
              <a:lnSpc>
                <a:spcPts val="2700"/>
              </a:lnSpc>
            </a:pPr>
            <a:r>
              <a:rPr lang="en-US" sz="2400" b="1" spc="270" dirty="0">
                <a:solidFill>
                  <a:srgbClr val="22263E"/>
                </a:solidFill>
                <a:latin typeface="Inter"/>
                <a:ea typeface="Inter"/>
                <a:cs typeface="Inter"/>
                <a:sym typeface="Inter"/>
              </a:rPr>
              <a:t>	False → No </a:t>
            </a:r>
            <a:r>
              <a:rPr lang="en-US" sz="2400" b="1" spc="270" dirty="0" err="1">
                <a:solidFill>
                  <a:srgbClr val="22263E"/>
                </a:solidFill>
                <a:latin typeface="Inter"/>
                <a:ea typeface="Inter"/>
                <a:cs typeface="Inter"/>
                <a:sym typeface="Inter"/>
              </a:rPr>
              <a:t>Duckiebot</a:t>
            </a:r>
            <a:r>
              <a:rPr lang="en-US" sz="2400" b="1" spc="270" dirty="0">
                <a:solidFill>
                  <a:srgbClr val="22263E"/>
                </a:solidFill>
                <a:latin typeface="Inter"/>
                <a:ea typeface="Inter"/>
                <a:cs typeface="Inter"/>
                <a:sym typeface="Inter"/>
              </a:rPr>
              <a:t> detected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48A1948-26C2-228C-5D5C-C0DEBB37F90E}"/>
              </a:ext>
            </a:extLst>
          </p:cNvPr>
          <p:cNvSpPr txBox="1"/>
          <p:nvPr/>
        </p:nvSpPr>
        <p:spPr>
          <a:xfrm>
            <a:off x="496874" y="7005460"/>
            <a:ext cx="8305800" cy="17312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94311" lvl="1">
              <a:lnSpc>
                <a:spcPts val="2700"/>
              </a:lnSpc>
            </a:pPr>
            <a:r>
              <a:rPr lang="en-US" sz="2400" b="1" spc="270" dirty="0">
                <a:solidFill>
                  <a:srgbClr val="22263E"/>
                </a:solidFill>
                <a:latin typeface="Inter"/>
                <a:ea typeface="Inter"/>
                <a:cs typeface="Inter"/>
                <a:sym typeface="Inter"/>
              </a:rPr>
              <a:t>LiDAR / Time-of-Flight (ToF) Sensor</a:t>
            </a:r>
          </a:p>
          <a:p>
            <a:pPr marL="537211" lvl="1" indent="-342900">
              <a:lnSpc>
                <a:spcPts val="2700"/>
              </a:lnSpc>
              <a:buFont typeface="Arial" panose="020B0604020202020204" pitchFamily="34" charset="0"/>
              <a:buChar char="•"/>
            </a:pPr>
            <a:r>
              <a:rPr lang="en-US" sz="2400" b="1" spc="270" dirty="0">
                <a:solidFill>
                  <a:srgbClr val="22263E"/>
                </a:solidFill>
                <a:latin typeface="Inter"/>
                <a:ea typeface="Inter"/>
                <a:cs typeface="Inter"/>
                <a:sym typeface="Inter"/>
              </a:rPr>
              <a:t>Measures forward distance to objects</a:t>
            </a:r>
          </a:p>
          <a:p>
            <a:pPr marL="537211" lvl="1" indent="-342900">
              <a:lnSpc>
                <a:spcPts val="2700"/>
              </a:lnSpc>
              <a:buFont typeface="Arial" panose="020B0604020202020204" pitchFamily="34" charset="0"/>
              <a:buChar char="•"/>
            </a:pPr>
            <a:r>
              <a:rPr lang="en-US" sz="2400" b="1" spc="270" dirty="0">
                <a:solidFill>
                  <a:srgbClr val="22263E"/>
                </a:solidFill>
                <a:latin typeface="Inter"/>
                <a:ea typeface="Inter"/>
                <a:cs typeface="Inter"/>
                <a:sym typeface="Inter"/>
              </a:rPr>
              <a:t>Output Topic: /</a:t>
            </a:r>
            <a:r>
              <a:rPr lang="en-US" sz="2400" b="1" spc="270" dirty="0" err="1">
                <a:solidFill>
                  <a:srgbClr val="22263E"/>
                </a:solidFill>
                <a:latin typeface="Inter"/>
                <a:ea typeface="Inter"/>
                <a:cs typeface="Inter"/>
                <a:sym typeface="Inter"/>
              </a:rPr>
              <a:t>front_center_tof_driver_node</a:t>
            </a:r>
            <a:r>
              <a:rPr lang="en-US" sz="2400" b="1" spc="270" dirty="0">
                <a:solidFill>
                  <a:srgbClr val="22263E"/>
                </a:solidFill>
                <a:latin typeface="Inter"/>
                <a:ea typeface="Inter"/>
                <a:cs typeface="Inter"/>
                <a:sym typeface="Inter"/>
              </a:rPr>
              <a:t>/range</a:t>
            </a:r>
          </a:p>
          <a:p>
            <a:pPr marL="194311" lvl="1">
              <a:lnSpc>
                <a:spcPts val="2700"/>
              </a:lnSpc>
            </a:pPr>
            <a:r>
              <a:rPr lang="en-US" sz="2400" b="1" spc="270" dirty="0">
                <a:solidFill>
                  <a:srgbClr val="22263E"/>
                </a:solidFill>
                <a:latin typeface="Inter"/>
                <a:ea typeface="Inter"/>
                <a:cs typeface="Inter"/>
                <a:sym typeface="Inter"/>
              </a:rPr>
              <a:t>   Provides real-time distance in meters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2332F0A-0CC4-9812-17FE-183A3AAED6AA}"/>
              </a:ext>
            </a:extLst>
          </p:cNvPr>
          <p:cNvSpPr txBox="1"/>
          <p:nvPr/>
        </p:nvSpPr>
        <p:spPr>
          <a:xfrm>
            <a:off x="10439400" y="3193623"/>
            <a:ext cx="8305800" cy="10387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94311" lvl="1">
              <a:lnSpc>
                <a:spcPts val="2700"/>
              </a:lnSpc>
            </a:pPr>
            <a:r>
              <a:rPr lang="en-US" sz="2400" b="1" spc="270" dirty="0">
                <a:solidFill>
                  <a:srgbClr val="22263E"/>
                </a:solidFill>
                <a:latin typeface="Inter"/>
                <a:ea typeface="Inter"/>
                <a:cs typeface="Inter"/>
                <a:sym typeface="Inter"/>
              </a:rPr>
              <a:t>Final Avoidance Trigger Condition:</a:t>
            </a:r>
          </a:p>
          <a:p>
            <a:pPr marL="194311" lvl="1">
              <a:lnSpc>
                <a:spcPts val="2700"/>
              </a:lnSpc>
            </a:pPr>
            <a:endParaRPr lang="en-US" sz="2400" b="1" spc="270" dirty="0">
              <a:solidFill>
                <a:srgbClr val="22263E"/>
              </a:solidFill>
              <a:latin typeface="Inter"/>
              <a:ea typeface="Inter"/>
              <a:cs typeface="Inter"/>
              <a:sym typeface="Inter"/>
            </a:endParaRPr>
          </a:p>
          <a:p>
            <a:pPr marL="194311" lvl="1">
              <a:lnSpc>
                <a:spcPts val="2700"/>
              </a:lnSpc>
            </a:pPr>
            <a:r>
              <a:rPr lang="en-US" sz="2400" b="1" spc="270" dirty="0" err="1">
                <a:solidFill>
                  <a:srgbClr val="22263E"/>
                </a:solidFill>
                <a:latin typeface="Inter"/>
                <a:ea typeface="Inter"/>
                <a:cs typeface="Inter"/>
                <a:sym typeface="Inter"/>
              </a:rPr>
              <a:t>Duckiebot</a:t>
            </a:r>
            <a:r>
              <a:rPr lang="en-US" sz="2400" b="1" spc="270" dirty="0">
                <a:solidFill>
                  <a:srgbClr val="22263E"/>
                </a:solidFill>
                <a:latin typeface="Inter"/>
                <a:ea typeface="Inter"/>
                <a:cs typeface="Inter"/>
                <a:sym typeface="Inter"/>
              </a:rPr>
              <a:t> detected  AND  Range ≤ 0.2 m</a:t>
            </a:r>
          </a:p>
        </p:txBody>
      </p:sp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710BCD3C-1FCE-8174-420E-4134541B0F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4856595"/>
              </p:ext>
            </p:extLst>
          </p:nvPr>
        </p:nvGraphicFramePr>
        <p:xfrm>
          <a:off x="10483186" y="4651443"/>
          <a:ext cx="4114801" cy="2258292"/>
        </p:xfrm>
        <a:graphic>
          <a:graphicData uri="http://schemas.openxmlformats.org/drawingml/2006/table">
            <a:tbl>
              <a:tblPr/>
              <a:tblGrid>
                <a:gridCol w="4114801">
                  <a:extLst>
                    <a:ext uri="{9D8B030D-6E8A-4147-A177-3AD203B41FA5}">
                      <a16:colId xmlns:a16="http://schemas.microsoft.com/office/drawing/2014/main" val="3939085889"/>
                    </a:ext>
                  </a:extLst>
                </a:gridCol>
              </a:tblGrid>
              <a:tr h="4735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latin typeface="Inter" panose="020B0604020202020204" charset="0"/>
                          <a:ea typeface="Inter" panose="020B0604020202020204" charset="0"/>
                        </a:rPr>
                        <a:t>Camera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1978735"/>
                  </a:ext>
                </a:extLst>
              </a:tr>
              <a:tr h="4735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latin typeface="Inter" panose="020B0604020202020204" charset="0"/>
                          <a:ea typeface="Inter" panose="020B0604020202020204" charset="0"/>
                        </a:rPr>
                        <a:t>Identifies </a:t>
                      </a:r>
                      <a:r>
                        <a:rPr lang="en-US" sz="2000" b="1" dirty="0">
                          <a:latin typeface="Inter" panose="020B0604020202020204" charset="0"/>
                          <a:ea typeface="Inter" panose="020B0604020202020204" charset="0"/>
                        </a:rPr>
                        <a:t>what</a:t>
                      </a:r>
                      <a:r>
                        <a:rPr lang="en-US" sz="2000" dirty="0">
                          <a:latin typeface="Inter" panose="020B0604020202020204" charset="0"/>
                          <a:ea typeface="Inter" panose="020B0604020202020204" charset="0"/>
                        </a:rPr>
                        <a:t> the object is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0913278"/>
                  </a:ext>
                </a:extLst>
              </a:tr>
              <a:tr h="8377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latin typeface="Inter" panose="020B0604020202020204" charset="0"/>
                          <a:ea typeface="Inter" panose="020B0604020202020204" charset="0"/>
                        </a:rPr>
                        <a:t>Avoids reacting to random objects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2361153"/>
                  </a:ext>
                </a:extLst>
              </a:tr>
              <a:tr h="4735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latin typeface="Inter" panose="020B0604020202020204" charset="0"/>
                          <a:ea typeface="Inter" panose="020B0604020202020204" charset="0"/>
                        </a:rPr>
                        <a:t>Prevents false triggers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3363874"/>
                  </a:ext>
                </a:extLst>
              </a:tr>
            </a:tbl>
          </a:graphicData>
        </a:graphic>
      </p:graphicFrame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A5A336CA-A20C-3E00-0B3D-EC11E105CE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6595712"/>
              </p:ext>
            </p:extLst>
          </p:nvPr>
        </p:nvGraphicFramePr>
        <p:xfrm>
          <a:off x="6368387" y="7108023"/>
          <a:ext cx="8229600" cy="1628680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2295193553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539311068"/>
                    </a:ext>
                  </a:extLst>
                </a:gridCol>
              </a:tblGrid>
              <a:tr h="40717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2000" dirty="0"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Inter" panose="020B0604020202020204" charset="0"/>
                          <a:ea typeface="Inter" panose="020B0604020202020204" charset="0"/>
                        </a:rPr>
                        <a:t>LiDAR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0693086"/>
                  </a:ext>
                </a:extLst>
              </a:tr>
              <a:tr h="40717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2000"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Inter" panose="020B0604020202020204" charset="0"/>
                          <a:ea typeface="Inter" panose="020B0604020202020204" charset="0"/>
                        </a:rPr>
                        <a:t>Measures </a:t>
                      </a:r>
                      <a:r>
                        <a:rPr lang="en-US" sz="2000" b="1">
                          <a:latin typeface="Inter" panose="020B0604020202020204" charset="0"/>
                          <a:ea typeface="Inter" panose="020B0604020202020204" charset="0"/>
                        </a:rPr>
                        <a:t>how far</a:t>
                      </a:r>
                      <a:r>
                        <a:rPr lang="en-US" sz="2000">
                          <a:latin typeface="Inter" panose="020B0604020202020204" charset="0"/>
                          <a:ea typeface="Inter" panose="020B0604020202020204" charset="0"/>
                        </a:rPr>
                        <a:t> it is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3124943"/>
                  </a:ext>
                </a:extLst>
              </a:tr>
              <a:tr h="40717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2000"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latin typeface="Inter" panose="020B0604020202020204" charset="0"/>
                          <a:ea typeface="Inter" panose="020B0604020202020204" charset="0"/>
                        </a:rPr>
                        <a:t>Provides precise distance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9809030"/>
                  </a:ext>
                </a:extLst>
              </a:tr>
              <a:tr h="40717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2000" dirty="0"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latin typeface="Inter" panose="020B0604020202020204" charset="0"/>
                          <a:ea typeface="Inter" panose="020B0604020202020204" charset="0"/>
                        </a:rPr>
                        <a:t>Enables safe stopping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74480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876076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4EA323-1D73-25C2-66A1-37BC6936E3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012278B3-A6B4-9A2A-211F-625AF35FC90A}"/>
              </a:ext>
            </a:extLst>
          </p:cNvPr>
          <p:cNvGrpSpPr/>
          <p:nvPr/>
        </p:nvGrpSpPr>
        <p:grpSpPr>
          <a:xfrm rot="-2211212">
            <a:off x="-2305505" y="-1443650"/>
            <a:ext cx="4019963" cy="4493189"/>
            <a:chOff x="0" y="0"/>
            <a:chExt cx="981327" cy="109684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CDA87691-08DD-5543-350D-E735A7007475}"/>
                </a:ext>
              </a:extLst>
            </p:cNvPr>
            <p:cNvSpPr/>
            <p:nvPr/>
          </p:nvSpPr>
          <p:spPr>
            <a:xfrm>
              <a:off x="0" y="0"/>
              <a:ext cx="981327" cy="1096848"/>
            </a:xfrm>
            <a:custGeom>
              <a:avLst/>
              <a:gdLst/>
              <a:ahLst/>
              <a:cxnLst/>
              <a:rect l="l" t="t" r="r" b="b"/>
              <a:pathLst>
                <a:path w="981327" h="1096848">
                  <a:moveTo>
                    <a:pt x="115552" y="0"/>
                  </a:moveTo>
                  <a:lnTo>
                    <a:pt x="865775" y="0"/>
                  </a:lnTo>
                  <a:cubicBezTo>
                    <a:pt x="896421" y="0"/>
                    <a:pt x="925812" y="12174"/>
                    <a:pt x="947482" y="33844"/>
                  </a:cubicBezTo>
                  <a:cubicBezTo>
                    <a:pt x="969153" y="55515"/>
                    <a:pt x="981327" y="84906"/>
                    <a:pt x="981327" y="115552"/>
                  </a:cubicBezTo>
                  <a:lnTo>
                    <a:pt x="981327" y="981296"/>
                  </a:lnTo>
                  <a:cubicBezTo>
                    <a:pt x="981327" y="1011942"/>
                    <a:pt x="969153" y="1041333"/>
                    <a:pt x="947482" y="1063004"/>
                  </a:cubicBezTo>
                  <a:cubicBezTo>
                    <a:pt x="925812" y="1084674"/>
                    <a:pt x="896421" y="1096848"/>
                    <a:pt x="865775" y="1096848"/>
                  </a:cubicBezTo>
                  <a:lnTo>
                    <a:pt x="115552" y="1096848"/>
                  </a:lnTo>
                  <a:cubicBezTo>
                    <a:pt x="84906" y="1096848"/>
                    <a:pt x="55515" y="1084674"/>
                    <a:pt x="33844" y="1063004"/>
                  </a:cubicBezTo>
                  <a:cubicBezTo>
                    <a:pt x="12174" y="1041333"/>
                    <a:pt x="0" y="1011942"/>
                    <a:pt x="0" y="981296"/>
                  </a:cubicBezTo>
                  <a:lnTo>
                    <a:pt x="0" y="115552"/>
                  </a:lnTo>
                  <a:cubicBezTo>
                    <a:pt x="0" y="84906"/>
                    <a:pt x="12174" y="55515"/>
                    <a:pt x="33844" y="33844"/>
                  </a:cubicBezTo>
                  <a:cubicBezTo>
                    <a:pt x="55515" y="12174"/>
                    <a:pt x="84906" y="0"/>
                    <a:pt x="11555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9FA5C8">
                    <a:alpha val="100000"/>
                  </a:srgbClr>
                </a:gs>
                <a:gs pos="100000">
                  <a:srgbClr val="9FA5C8">
                    <a:alpha val="0"/>
                  </a:srgbClr>
                </a:gs>
              </a:gsLst>
              <a:lin ang="0"/>
            </a:gradFill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3A881812-9713-C297-4F0F-0EBFFC942A84}"/>
                </a:ext>
              </a:extLst>
            </p:cNvPr>
            <p:cNvSpPr txBox="1"/>
            <p:nvPr/>
          </p:nvSpPr>
          <p:spPr>
            <a:xfrm>
              <a:off x="0" y="-47625"/>
              <a:ext cx="981327" cy="11444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CFAD940E-D0A7-755B-4B5C-727BC6D04DB4}"/>
              </a:ext>
            </a:extLst>
          </p:cNvPr>
          <p:cNvGrpSpPr/>
          <p:nvPr/>
        </p:nvGrpSpPr>
        <p:grpSpPr>
          <a:xfrm rot="-2211212">
            <a:off x="-1449957" y="-3920233"/>
            <a:ext cx="6950422" cy="4493189"/>
            <a:chOff x="0" y="0"/>
            <a:chExt cx="1696691" cy="1096848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8AF8D670-1D40-D66B-DADF-AFE36DE422C7}"/>
                </a:ext>
              </a:extLst>
            </p:cNvPr>
            <p:cNvSpPr/>
            <p:nvPr/>
          </p:nvSpPr>
          <p:spPr>
            <a:xfrm>
              <a:off x="0" y="0"/>
              <a:ext cx="1696691" cy="1096848"/>
            </a:xfrm>
            <a:custGeom>
              <a:avLst/>
              <a:gdLst/>
              <a:ahLst/>
              <a:cxnLst/>
              <a:rect l="l" t="t" r="r" b="b"/>
              <a:pathLst>
                <a:path w="1696691" h="1096848">
                  <a:moveTo>
                    <a:pt x="66833" y="0"/>
                  </a:moveTo>
                  <a:lnTo>
                    <a:pt x="1629859" y="0"/>
                  </a:lnTo>
                  <a:cubicBezTo>
                    <a:pt x="1647584" y="0"/>
                    <a:pt x="1664583" y="7041"/>
                    <a:pt x="1677117" y="19575"/>
                  </a:cubicBezTo>
                  <a:cubicBezTo>
                    <a:pt x="1689650" y="32108"/>
                    <a:pt x="1696691" y="49108"/>
                    <a:pt x="1696691" y="66833"/>
                  </a:cubicBezTo>
                  <a:lnTo>
                    <a:pt x="1696691" y="1030015"/>
                  </a:lnTo>
                  <a:cubicBezTo>
                    <a:pt x="1696691" y="1047740"/>
                    <a:pt x="1689650" y="1064740"/>
                    <a:pt x="1677117" y="1077273"/>
                  </a:cubicBezTo>
                  <a:cubicBezTo>
                    <a:pt x="1664583" y="1089807"/>
                    <a:pt x="1647584" y="1096848"/>
                    <a:pt x="1629859" y="1096848"/>
                  </a:cubicBezTo>
                  <a:lnTo>
                    <a:pt x="66833" y="1096848"/>
                  </a:lnTo>
                  <a:cubicBezTo>
                    <a:pt x="49108" y="1096848"/>
                    <a:pt x="32108" y="1089807"/>
                    <a:pt x="19575" y="1077273"/>
                  </a:cubicBezTo>
                  <a:cubicBezTo>
                    <a:pt x="7041" y="1064740"/>
                    <a:pt x="0" y="1047740"/>
                    <a:pt x="0" y="1030015"/>
                  </a:cubicBezTo>
                  <a:lnTo>
                    <a:pt x="0" y="66833"/>
                  </a:lnTo>
                  <a:cubicBezTo>
                    <a:pt x="0" y="49108"/>
                    <a:pt x="7041" y="32108"/>
                    <a:pt x="19575" y="19575"/>
                  </a:cubicBezTo>
                  <a:cubicBezTo>
                    <a:pt x="32108" y="7041"/>
                    <a:pt x="49108" y="0"/>
                    <a:pt x="66833" y="0"/>
                  </a:cubicBezTo>
                  <a:close/>
                </a:path>
              </a:pathLst>
            </a:custGeom>
            <a:solidFill>
              <a:srgbClr val="323B60"/>
            </a:solidFill>
          </p:spPr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02277E9F-9ADB-5CF1-1A63-31F5FEAF47CC}"/>
                </a:ext>
              </a:extLst>
            </p:cNvPr>
            <p:cNvSpPr txBox="1"/>
            <p:nvPr/>
          </p:nvSpPr>
          <p:spPr>
            <a:xfrm>
              <a:off x="0" y="-47625"/>
              <a:ext cx="1696691" cy="11444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48F21727-1F38-B92B-BA16-82A0461CA9CE}"/>
              </a:ext>
            </a:extLst>
          </p:cNvPr>
          <p:cNvGrpSpPr/>
          <p:nvPr/>
        </p:nvGrpSpPr>
        <p:grpSpPr>
          <a:xfrm rot="-2211212">
            <a:off x="13784089" y="8980678"/>
            <a:ext cx="6950422" cy="4493189"/>
            <a:chOff x="0" y="0"/>
            <a:chExt cx="1696691" cy="1096848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D5B8C922-CC1F-F3A1-9416-3ABD1A303FF1}"/>
                </a:ext>
              </a:extLst>
            </p:cNvPr>
            <p:cNvSpPr/>
            <p:nvPr/>
          </p:nvSpPr>
          <p:spPr>
            <a:xfrm>
              <a:off x="0" y="0"/>
              <a:ext cx="1696691" cy="1096848"/>
            </a:xfrm>
            <a:custGeom>
              <a:avLst/>
              <a:gdLst/>
              <a:ahLst/>
              <a:cxnLst/>
              <a:rect l="l" t="t" r="r" b="b"/>
              <a:pathLst>
                <a:path w="1696691" h="1096848">
                  <a:moveTo>
                    <a:pt x="66833" y="0"/>
                  </a:moveTo>
                  <a:lnTo>
                    <a:pt x="1629859" y="0"/>
                  </a:lnTo>
                  <a:cubicBezTo>
                    <a:pt x="1647584" y="0"/>
                    <a:pt x="1664583" y="7041"/>
                    <a:pt x="1677117" y="19575"/>
                  </a:cubicBezTo>
                  <a:cubicBezTo>
                    <a:pt x="1689650" y="32108"/>
                    <a:pt x="1696691" y="49108"/>
                    <a:pt x="1696691" y="66833"/>
                  </a:cubicBezTo>
                  <a:lnTo>
                    <a:pt x="1696691" y="1030015"/>
                  </a:lnTo>
                  <a:cubicBezTo>
                    <a:pt x="1696691" y="1047740"/>
                    <a:pt x="1689650" y="1064740"/>
                    <a:pt x="1677117" y="1077273"/>
                  </a:cubicBezTo>
                  <a:cubicBezTo>
                    <a:pt x="1664583" y="1089807"/>
                    <a:pt x="1647584" y="1096848"/>
                    <a:pt x="1629859" y="1096848"/>
                  </a:cubicBezTo>
                  <a:lnTo>
                    <a:pt x="66833" y="1096848"/>
                  </a:lnTo>
                  <a:cubicBezTo>
                    <a:pt x="49108" y="1096848"/>
                    <a:pt x="32108" y="1089807"/>
                    <a:pt x="19575" y="1077273"/>
                  </a:cubicBezTo>
                  <a:cubicBezTo>
                    <a:pt x="7041" y="1064740"/>
                    <a:pt x="0" y="1047740"/>
                    <a:pt x="0" y="1030015"/>
                  </a:cubicBezTo>
                  <a:lnTo>
                    <a:pt x="0" y="66833"/>
                  </a:lnTo>
                  <a:cubicBezTo>
                    <a:pt x="0" y="49108"/>
                    <a:pt x="7041" y="32108"/>
                    <a:pt x="19575" y="19575"/>
                  </a:cubicBezTo>
                  <a:cubicBezTo>
                    <a:pt x="32108" y="7041"/>
                    <a:pt x="49108" y="0"/>
                    <a:pt x="66833" y="0"/>
                  </a:cubicBezTo>
                  <a:close/>
                </a:path>
              </a:pathLst>
            </a:custGeom>
            <a:solidFill>
              <a:srgbClr val="323B60"/>
            </a:solidFill>
          </p:spPr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919F41FC-8531-C795-9A84-55B47214E22A}"/>
                </a:ext>
              </a:extLst>
            </p:cNvPr>
            <p:cNvSpPr txBox="1"/>
            <p:nvPr/>
          </p:nvSpPr>
          <p:spPr>
            <a:xfrm>
              <a:off x="0" y="-47625"/>
              <a:ext cx="1696691" cy="11444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16" name="TextBox 16">
            <a:extLst>
              <a:ext uri="{FF2B5EF4-FFF2-40B4-BE49-F238E27FC236}">
                <a16:creationId xmlns:a16="http://schemas.microsoft.com/office/drawing/2014/main" id="{9C81781B-A264-CD89-CCBB-E475DEBB7810}"/>
              </a:ext>
            </a:extLst>
          </p:cNvPr>
          <p:cNvSpPr txBox="1"/>
          <p:nvPr/>
        </p:nvSpPr>
        <p:spPr>
          <a:xfrm>
            <a:off x="2660250" y="952500"/>
            <a:ext cx="13534046" cy="10259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ctr">
              <a:lnSpc>
                <a:spcPts val="8000"/>
              </a:lnSpc>
            </a:pPr>
            <a:r>
              <a:rPr lang="en-US" sz="8000" b="1" spc="160" dirty="0">
                <a:solidFill>
                  <a:srgbClr val="4B548B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METHODOLOGY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CFC2689-7A8D-6B63-94AE-29E5246FF18E}"/>
              </a:ext>
            </a:extLst>
          </p:cNvPr>
          <p:cNvSpPr txBox="1"/>
          <p:nvPr/>
        </p:nvSpPr>
        <p:spPr>
          <a:xfrm>
            <a:off x="1447800" y="1875867"/>
            <a:ext cx="8256416" cy="977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ts val="8000"/>
              </a:lnSpc>
            </a:pPr>
            <a:r>
              <a:rPr lang="en-US" sz="3600" b="1" spc="160" dirty="0">
                <a:solidFill>
                  <a:srgbClr val="4B548B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Code Breakdown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FBC4E35-E367-A852-7FA4-DEE6BF3D146A}"/>
              </a:ext>
            </a:extLst>
          </p:cNvPr>
          <p:cNvSpPr txBox="1"/>
          <p:nvPr/>
        </p:nvSpPr>
        <p:spPr>
          <a:xfrm>
            <a:off x="9906000" y="3503614"/>
            <a:ext cx="6781800" cy="10387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94311" lvl="1" algn="just">
              <a:lnSpc>
                <a:spcPts val="2700"/>
              </a:lnSpc>
            </a:pPr>
            <a:r>
              <a:rPr lang="en-US" sz="2400" b="1" spc="270" dirty="0">
                <a:solidFill>
                  <a:srgbClr val="22263E"/>
                </a:solidFill>
                <a:latin typeface="Inter"/>
                <a:ea typeface="Inter"/>
                <a:cs typeface="Inter"/>
                <a:sym typeface="Inter"/>
              </a:rPr>
              <a:t>This code ensures the robot only reacts when both vision and LiDAR agree, reducing false triggers.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66F02DC3-7ADB-B2F9-8F64-B4B5546304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9604" y="3325669"/>
            <a:ext cx="8588024" cy="1394636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F70AFA72-AA54-E0D3-4E16-7B48F74B4E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5400" y="5786171"/>
            <a:ext cx="7386554" cy="2286000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0654BB7B-7AA5-B7FF-5065-193B0A4587F0}"/>
              </a:ext>
            </a:extLst>
          </p:cNvPr>
          <p:cNvSpPr txBox="1"/>
          <p:nvPr/>
        </p:nvSpPr>
        <p:spPr>
          <a:xfrm>
            <a:off x="9654755" y="6328370"/>
            <a:ext cx="8001000" cy="10387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37211" lvl="1" indent="-342900" algn="just">
              <a:lnSpc>
                <a:spcPts val="2700"/>
              </a:lnSpc>
              <a:buFont typeface="Arial" panose="020B0604020202020204" pitchFamily="34" charset="0"/>
              <a:buChar char="•"/>
            </a:pPr>
            <a:r>
              <a:rPr lang="en-US" sz="2400" b="1" spc="270" dirty="0">
                <a:solidFill>
                  <a:srgbClr val="22263E"/>
                </a:solidFill>
                <a:latin typeface="Inter"/>
                <a:ea typeface="Inter"/>
                <a:cs typeface="Inter"/>
                <a:sym typeface="Inter"/>
              </a:rPr>
              <a:t>Ensures safe stopping</a:t>
            </a:r>
          </a:p>
          <a:p>
            <a:pPr marL="194311" lvl="1" algn="just">
              <a:lnSpc>
                <a:spcPts val="2700"/>
              </a:lnSpc>
            </a:pPr>
            <a:endParaRPr lang="en-US" sz="2400" b="1" spc="270" dirty="0">
              <a:solidFill>
                <a:srgbClr val="22263E"/>
              </a:solidFill>
              <a:latin typeface="Inter"/>
              <a:ea typeface="Inter"/>
              <a:cs typeface="Inter"/>
              <a:sym typeface="Inter"/>
            </a:endParaRPr>
          </a:p>
          <a:p>
            <a:pPr marL="537211" lvl="1" indent="-342900" algn="just">
              <a:lnSpc>
                <a:spcPts val="2700"/>
              </a:lnSpc>
              <a:buFont typeface="Arial" panose="020B0604020202020204" pitchFamily="34" charset="0"/>
              <a:buChar char="•"/>
            </a:pPr>
            <a:r>
              <a:rPr lang="en-US" sz="2400" b="1" spc="270" dirty="0">
                <a:solidFill>
                  <a:srgbClr val="22263E"/>
                </a:solidFill>
                <a:latin typeface="Inter"/>
                <a:ea typeface="Inter"/>
                <a:cs typeface="Inter"/>
                <a:sym typeface="Inter"/>
              </a:rPr>
              <a:t>Prevents collision before maneuvering</a:t>
            </a:r>
          </a:p>
        </p:txBody>
      </p:sp>
    </p:spTree>
    <p:extLst>
      <p:ext uri="{BB962C8B-B14F-4D97-AF65-F5344CB8AC3E}">
        <p14:creationId xmlns:p14="http://schemas.microsoft.com/office/powerpoint/2010/main" val="40614856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651C69-723F-275C-C4FF-F2BB3D762E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6CFE9F08-A623-01D1-9AA1-3B368D066FD5}"/>
              </a:ext>
            </a:extLst>
          </p:cNvPr>
          <p:cNvGrpSpPr/>
          <p:nvPr/>
        </p:nvGrpSpPr>
        <p:grpSpPr>
          <a:xfrm rot="-2211212">
            <a:off x="-2305505" y="-1443650"/>
            <a:ext cx="4019963" cy="4493189"/>
            <a:chOff x="0" y="0"/>
            <a:chExt cx="981327" cy="109684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FFC9C800-7154-1041-DE06-A9CC5FC45AED}"/>
                </a:ext>
              </a:extLst>
            </p:cNvPr>
            <p:cNvSpPr/>
            <p:nvPr/>
          </p:nvSpPr>
          <p:spPr>
            <a:xfrm>
              <a:off x="0" y="0"/>
              <a:ext cx="981327" cy="1096848"/>
            </a:xfrm>
            <a:custGeom>
              <a:avLst/>
              <a:gdLst/>
              <a:ahLst/>
              <a:cxnLst/>
              <a:rect l="l" t="t" r="r" b="b"/>
              <a:pathLst>
                <a:path w="981327" h="1096848">
                  <a:moveTo>
                    <a:pt x="115552" y="0"/>
                  </a:moveTo>
                  <a:lnTo>
                    <a:pt x="865775" y="0"/>
                  </a:lnTo>
                  <a:cubicBezTo>
                    <a:pt x="896421" y="0"/>
                    <a:pt x="925812" y="12174"/>
                    <a:pt x="947482" y="33844"/>
                  </a:cubicBezTo>
                  <a:cubicBezTo>
                    <a:pt x="969153" y="55515"/>
                    <a:pt x="981327" y="84906"/>
                    <a:pt x="981327" y="115552"/>
                  </a:cubicBezTo>
                  <a:lnTo>
                    <a:pt x="981327" y="981296"/>
                  </a:lnTo>
                  <a:cubicBezTo>
                    <a:pt x="981327" y="1011942"/>
                    <a:pt x="969153" y="1041333"/>
                    <a:pt x="947482" y="1063004"/>
                  </a:cubicBezTo>
                  <a:cubicBezTo>
                    <a:pt x="925812" y="1084674"/>
                    <a:pt x="896421" y="1096848"/>
                    <a:pt x="865775" y="1096848"/>
                  </a:cubicBezTo>
                  <a:lnTo>
                    <a:pt x="115552" y="1096848"/>
                  </a:lnTo>
                  <a:cubicBezTo>
                    <a:pt x="84906" y="1096848"/>
                    <a:pt x="55515" y="1084674"/>
                    <a:pt x="33844" y="1063004"/>
                  </a:cubicBezTo>
                  <a:cubicBezTo>
                    <a:pt x="12174" y="1041333"/>
                    <a:pt x="0" y="1011942"/>
                    <a:pt x="0" y="981296"/>
                  </a:cubicBezTo>
                  <a:lnTo>
                    <a:pt x="0" y="115552"/>
                  </a:lnTo>
                  <a:cubicBezTo>
                    <a:pt x="0" y="84906"/>
                    <a:pt x="12174" y="55515"/>
                    <a:pt x="33844" y="33844"/>
                  </a:cubicBezTo>
                  <a:cubicBezTo>
                    <a:pt x="55515" y="12174"/>
                    <a:pt x="84906" y="0"/>
                    <a:pt x="11555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9FA5C8">
                    <a:alpha val="100000"/>
                  </a:srgbClr>
                </a:gs>
                <a:gs pos="100000">
                  <a:srgbClr val="9FA5C8">
                    <a:alpha val="0"/>
                  </a:srgbClr>
                </a:gs>
              </a:gsLst>
              <a:lin ang="0"/>
            </a:gradFill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83C11063-A811-448B-285F-08F627820A99}"/>
                </a:ext>
              </a:extLst>
            </p:cNvPr>
            <p:cNvSpPr txBox="1"/>
            <p:nvPr/>
          </p:nvSpPr>
          <p:spPr>
            <a:xfrm>
              <a:off x="0" y="-47625"/>
              <a:ext cx="981327" cy="11444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ECD1BF2F-C7C7-5626-3DB4-5707ADFA8573}"/>
              </a:ext>
            </a:extLst>
          </p:cNvPr>
          <p:cNvGrpSpPr/>
          <p:nvPr/>
        </p:nvGrpSpPr>
        <p:grpSpPr>
          <a:xfrm rot="-2211212">
            <a:off x="-1449957" y="-3920233"/>
            <a:ext cx="6950422" cy="4493189"/>
            <a:chOff x="0" y="0"/>
            <a:chExt cx="1696691" cy="1096848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D7D2648A-5D73-89D8-93AF-8BAF30A4328A}"/>
                </a:ext>
              </a:extLst>
            </p:cNvPr>
            <p:cNvSpPr/>
            <p:nvPr/>
          </p:nvSpPr>
          <p:spPr>
            <a:xfrm>
              <a:off x="0" y="0"/>
              <a:ext cx="1696691" cy="1096848"/>
            </a:xfrm>
            <a:custGeom>
              <a:avLst/>
              <a:gdLst/>
              <a:ahLst/>
              <a:cxnLst/>
              <a:rect l="l" t="t" r="r" b="b"/>
              <a:pathLst>
                <a:path w="1696691" h="1096848">
                  <a:moveTo>
                    <a:pt x="66833" y="0"/>
                  </a:moveTo>
                  <a:lnTo>
                    <a:pt x="1629859" y="0"/>
                  </a:lnTo>
                  <a:cubicBezTo>
                    <a:pt x="1647584" y="0"/>
                    <a:pt x="1664583" y="7041"/>
                    <a:pt x="1677117" y="19575"/>
                  </a:cubicBezTo>
                  <a:cubicBezTo>
                    <a:pt x="1689650" y="32108"/>
                    <a:pt x="1696691" y="49108"/>
                    <a:pt x="1696691" y="66833"/>
                  </a:cubicBezTo>
                  <a:lnTo>
                    <a:pt x="1696691" y="1030015"/>
                  </a:lnTo>
                  <a:cubicBezTo>
                    <a:pt x="1696691" y="1047740"/>
                    <a:pt x="1689650" y="1064740"/>
                    <a:pt x="1677117" y="1077273"/>
                  </a:cubicBezTo>
                  <a:cubicBezTo>
                    <a:pt x="1664583" y="1089807"/>
                    <a:pt x="1647584" y="1096848"/>
                    <a:pt x="1629859" y="1096848"/>
                  </a:cubicBezTo>
                  <a:lnTo>
                    <a:pt x="66833" y="1096848"/>
                  </a:lnTo>
                  <a:cubicBezTo>
                    <a:pt x="49108" y="1096848"/>
                    <a:pt x="32108" y="1089807"/>
                    <a:pt x="19575" y="1077273"/>
                  </a:cubicBezTo>
                  <a:cubicBezTo>
                    <a:pt x="7041" y="1064740"/>
                    <a:pt x="0" y="1047740"/>
                    <a:pt x="0" y="1030015"/>
                  </a:cubicBezTo>
                  <a:lnTo>
                    <a:pt x="0" y="66833"/>
                  </a:lnTo>
                  <a:cubicBezTo>
                    <a:pt x="0" y="49108"/>
                    <a:pt x="7041" y="32108"/>
                    <a:pt x="19575" y="19575"/>
                  </a:cubicBezTo>
                  <a:cubicBezTo>
                    <a:pt x="32108" y="7041"/>
                    <a:pt x="49108" y="0"/>
                    <a:pt x="66833" y="0"/>
                  </a:cubicBezTo>
                  <a:close/>
                </a:path>
              </a:pathLst>
            </a:custGeom>
            <a:solidFill>
              <a:srgbClr val="323B60"/>
            </a:solidFill>
          </p:spPr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A0A7412E-F2E2-460B-861F-1B398B7DB99F}"/>
                </a:ext>
              </a:extLst>
            </p:cNvPr>
            <p:cNvSpPr txBox="1"/>
            <p:nvPr/>
          </p:nvSpPr>
          <p:spPr>
            <a:xfrm>
              <a:off x="0" y="-47625"/>
              <a:ext cx="1696691" cy="11444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A9685630-97AD-8344-2756-2129C6A650BF}"/>
              </a:ext>
            </a:extLst>
          </p:cNvPr>
          <p:cNvGrpSpPr/>
          <p:nvPr/>
        </p:nvGrpSpPr>
        <p:grpSpPr>
          <a:xfrm rot="-2211212">
            <a:off x="13784089" y="8980678"/>
            <a:ext cx="6950422" cy="4493189"/>
            <a:chOff x="0" y="0"/>
            <a:chExt cx="1696691" cy="1096848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B6DBBF40-3965-1080-6623-1A4905BF18DA}"/>
                </a:ext>
              </a:extLst>
            </p:cNvPr>
            <p:cNvSpPr/>
            <p:nvPr/>
          </p:nvSpPr>
          <p:spPr>
            <a:xfrm>
              <a:off x="0" y="0"/>
              <a:ext cx="1696691" cy="1096848"/>
            </a:xfrm>
            <a:custGeom>
              <a:avLst/>
              <a:gdLst/>
              <a:ahLst/>
              <a:cxnLst/>
              <a:rect l="l" t="t" r="r" b="b"/>
              <a:pathLst>
                <a:path w="1696691" h="1096848">
                  <a:moveTo>
                    <a:pt x="66833" y="0"/>
                  </a:moveTo>
                  <a:lnTo>
                    <a:pt x="1629859" y="0"/>
                  </a:lnTo>
                  <a:cubicBezTo>
                    <a:pt x="1647584" y="0"/>
                    <a:pt x="1664583" y="7041"/>
                    <a:pt x="1677117" y="19575"/>
                  </a:cubicBezTo>
                  <a:cubicBezTo>
                    <a:pt x="1689650" y="32108"/>
                    <a:pt x="1696691" y="49108"/>
                    <a:pt x="1696691" y="66833"/>
                  </a:cubicBezTo>
                  <a:lnTo>
                    <a:pt x="1696691" y="1030015"/>
                  </a:lnTo>
                  <a:cubicBezTo>
                    <a:pt x="1696691" y="1047740"/>
                    <a:pt x="1689650" y="1064740"/>
                    <a:pt x="1677117" y="1077273"/>
                  </a:cubicBezTo>
                  <a:cubicBezTo>
                    <a:pt x="1664583" y="1089807"/>
                    <a:pt x="1647584" y="1096848"/>
                    <a:pt x="1629859" y="1096848"/>
                  </a:cubicBezTo>
                  <a:lnTo>
                    <a:pt x="66833" y="1096848"/>
                  </a:lnTo>
                  <a:cubicBezTo>
                    <a:pt x="49108" y="1096848"/>
                    <a:pt x="32108" y="1089807"/>
                    <a:pt x="19575" y="1077273"/>
                  </a:cubicBezTo>
                  <a:cubicBezTo>
                    <a:pt x="7041" y="1064740"/>
                    <a:pt x="0" y="1047740"/>
                    <a:pt x="0" y="1030015"/>
                  </a:cubicBezTo>
                  <a:lnTo>
                    <a:pt x="0" y="66833"/>
                  </a:lnTo>
                  <a:cubicBezTo>
                    <a:pt x="0" y="49108"/>
                    <a:pt x="7041" y="32108"/>
                    <a:pt x="19575" y="19575"/>
                  </a:cubicBezTo>
                  <a:cubicBezTo>
                    <a:pt x="32108" y="7041"/>
                    <a:pt x="49108" y="0"/>
                    <a:pt x="66833" y="0"/>
                  </a:cubicBezTo>
                  <a:close/>
                </a:path>
              </a:pathLst>
            </a:custGeom>
            <a:solidFill>
              <a:srgbClr val="323B60"/>
            </a:solidFill>
          </p:spPr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41889472-C731-8EA4-4E34-2A8DAF68CF18}"/>
                </a:ext>
              </a:extLst>
            </p:cNvPr>
            <p:cNvSpPr txBox="1"/>
            <p:nvPr/>
          </p:nvSpPr>
          <p:spPr>
            <a:xfrm>
              <a:off x="0" y="-47625"/>
              <a:ext cx="1696691" cy="11444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16" name="TextBox 16">
            <a:extLst>
              <a:ext uri="{FF2B5EF4-FFF2-40B4-BE49-F238E27FC236}">
                <a16:creationId xmlns:a16="http://schemas.microsoft.com/office/drawing/2014/main" id="{8B20CB62-489A-BCA4-8784-98D9A71C9B9B}"/>
              </a:ext>
            </a:extLst>
          </p:cNvPr>
          <p:cNvSpPr txBox="1"/>
          <p:nvPr/>
        </p:nvSpPr>
        <p:spPr>
          <a:xfrm>
            <a:off x="2660250" y="952500"/>
            <a:ext cx="13534046" cy="10259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ctr">
              <a:lnSpc>
                <a:spcPts val="8000"/>
              </a:lnSpc>
            </a:pPr>
            <a:r>
              <a:rPr lang="en-US" sz="8000" b="1" spc="160" dirty="0">
                <a:solidFill>
                  <a:srgbClr val="4B548B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METHODOLOGY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4AED713-5043-9F31-18BB-8E511620FE9F}"/>
              </a:ext>
            </a:extLst>
          </p:cNvPr>
          <p:cNvSpPr txBox="1"/>
          <p:nvPr/>
        </p:nvSpPr>
        <p:spPr>
          <a:xfrm>
            <a:off x="1447800" y="1875867"/>
            <a:ext cx="8256416" cy="977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ts val="8000"/>
              </a:lnSpc>
            </a:pPr>
            <a:r>
              <a:rPr lang="en-US" sz="3600" b="1" spc="160" dirty="0">
                <a:solidFill>
                  <a:srgbClr val="4B548B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Code Breakdown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A52B9F0-C3EA-2BF5-2B95-02E2E7BD52CF}"/>
              </a:ext>
            </a:extLst>
          </p:cNvPr>
          <p:cNvSpPr txBox="1"/>
          <p:nvPr/>
        </p:nvSpPr>
        <p:spPr>
          <a:xfrm>
            <a:off x="9387988" y="3951393"/>
            <a:ext cx="8001000" cy="17312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37211" lvl="1" indent="-342900" algn="just">
              <a:lnSpc>
                <a:spcPts val="2700"/>
              </a:lnSpc>
              <a:buFont typeface="Arial" panose="020B0604020202020204" pitchFamily="34" charset="0"/>
              <a:buChar char="•"/>
            </a:pPr>
            <a:r>
              <a:rPr lang="en-US" sz="2400" b="1" spc="270" dirty="0">
                <a:solidFill>
                  <a:srgbClr val="22263E"/>
                </a:solidFill>
                <a:latin typeface="Inter"/>
                <a:ea typeface="Inter"/>
                <a:cs typeface="Inter"/>
                <a:sym typeface="Inter"/>
              </a:rPr>
              <a:t>Initiates obstacle bypass</a:t>
            </a:r>
          </a:p>
          <a:p>
            <a:pPr marL="194311" lvl="1" algn="just">
              <a:lnSpc>
                <a:spcPts val="2700"/>
              </a:lnSpc>
            </a:pPr>
            <a:endParaRPr lang="en-US" sz="2400" b="1" spc="270" dirty="0">
              <a:solidFill>
                <a:srgbClr val="22263E"/>
              </a:solidFill>
              <a:latin typeface="Inter"/>
              <a:ea typeface="Inter"/>
              <a:cs typeface="Inter"/>
              <a:sym typeface="Inter"/>
            </a:endParaRPr>
          </a:p>
          <a:p>
            <a:pPr marL="537211" lvl="1" indent="-342900" algn="just">
              <a:lnSpc>
                <a:spcPts val="2700"/>
              </a:lnSpc>
              <a:buFont typeface="Arial" panose="020B0604020202020204" pitchFamily="34" charset="0"/>
              <a:buChar char="•"/>
            </a:pPr>
            <a:r>
              <a:rPr lang="en-US" sz="2400" b="1" spc="270" dirty="0">
                <a:solidFill>
                  <a:srgbClr val="22263E"/>
                </a:solidFill>
                <a:latin typeface="Inter"/>
                <a:ea typeface="Inter"/>
                <a:cs typeface="Inter"/>
                <a:sym typeface="Inter"/>
              </a:rPr>
              <a:t>Fixed forward velocity</a:t>
            </a:r>
          </a:p>
          <a:p>
            <a:pPr marL="194311" lvl="1" algn="just">
              <a:lnSpc>
                <a:spcPts val="2700"/>
              </a:lnSpc>
            </a:pPr>
            <a:endParaRPr lang="en-US" sz="2400" b="1" spc="270" dirty="0">
              <a:solidFill>
                <a:srgbClr val="22263E"/>
              </a:solidFill>
              <a:latin typeface="Inter"/>
              <a:ea typeface="Inter"/>
              <a:cs typeface="Inter"/>
              <a:sym typeface="Inter"/>
            </a:endParaRPr>
          </a:p>
          <a:p>
            <a:pPr marL="537211" lvl="1" indent="-342900" algn="just">
              <a:lnSpc>
                <a:spcPts val="2700"/>
              </a:lnSpc>
              <a:buFont typeface="Arial" panose="020B0604020202020204" pitchFamily="34" charset="0"/>
              <a:buChar char="•"/>
            </a:pPr>
            <a:r>
              <a:rPr lang="en-US" sz="2400" b="1" spc="270" dirty="0">
                <a:solidFill>
                  <a:srgbClr val="22263E"/>
                </a:solidFill>
                <a:latin typeface="Inter"/>
                <a:ea typeface="Inter"/>
                <a:cs typeface="Inter"/>
                <a:sym typeface="Inter"/>
              </a:rPr>
              <a:t>Fixed left angular velocity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8066152C-FE2B-02FC-D178-61984D2283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799" y="3700163"/>
            <a:ext cx="7452215" cy="2339017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4F11816D-D76C-46EA-4296-2FE1887E80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6336" y="6832151"/>
            <a:ext cx="7995170" cy="242068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BA1CCBB-D31F-4B9E-6397-A503EE4E3565}"/>
              </a:ext>
            </a:extLst>
          </p:cNvPr>
          <p:cNvSpPr txBox="1"/>
          <p:nvPr/>
        </p:nvSpPr>
        <p:spPr>
          <a:xfrm>
            <a:off x="9670097" y="7349994"/>
            <a:ext cx="6524199" cy="13849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37211" lvl="1" indent="-342900" algn="just">
              <a:lnSpc>
                <a:spcPts val="2700"/>
              </a:lnSpc>
              <a:buFont typeface="Arial" panose="020B0604020202020204" pitchFamily="34" charset="0"/>
              <a:buChar char="•"/>
            </a:pPr>
            <a:r>
              <a:rPr lang="en-US" sz="2400" b="1" spc="270" dirty="0">
                <a:solidFill>
                  <a:srgbClr val="22263E"/>
                </a:solidFill>
                <a:latin typeface="Inter"/>
                <a:ea typeface="Inter"/>
                <a:cs typeface="Inter"/>
                <a:sym typeface="Inter"/>
              </a:rPr>
              <a:t>Re-orients robot back toward lane</a:t>
            </a:r>
          </a:p>
          <a:p>
            <a:pPr marL="194311" lvl="1" algn="just">
              <a:lnSpc>
                <a:spcPts val="2700"/>
              </a:lnSpc>
            </a:pPr>
            <a:endParaRPr lang="en-US" sz="2400" b="1" spc="270" dirty="0">
              <a:solidFill>
                <a:srgbClr val="22263E"/>
              </a:solidFill>
              <a:latin typeface="Inter"/>
              <a:ea typeface="Inter"/>
              <a:cs typeface="Inter"/>
              <a:sym typeface="Inter"/>
            </a:endParaRPr>
          </a:p>
          <a:p>
            <a:pPr marL="537211" lvl="1" indent="-342900" algn="just">
              <a:lnSpc>
                <a:spcPts val="2700"/>
              </a:lnSpc>
              <a:buFont typeface="Arial" panose="020B0604020202020204" pitchFamily="34" charset="0"/>
              <a:buChar char="•"/>
            </a:pPr>
            <a:r>
              <a:rPr lang="en-US" sz="2400" b="1" spc="270" dirty="0">
                <a:solidFill>
                  <a:srgbClr val="22263E"/>
                </a:solidFill>
                <a:latin typeface="Inter"/>
                <a:ea typeface="Inter"/>
                <a:cs typeface="Inter"/>
                <a:sym typeface="Inter"/>
              </a:rPr>
              <a:t>PID resumes control immediately afterward</a:t>
            </a:r>
          </a:p>
        </p:txBody>
      </p:sp>
    </p:spTree>
    <p:extLst>
      <p:ext uri="{BB962C8B-B14F-4D97-AF65-F5344CB8AC3E}">
        <p14:creationId xmlns:p14="http://schemas.microsoft.com/office/powerpoint/2010/main" val="15253680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50B11-26E5-CEEB-2C39-C41CDA3B2C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6C747282-817B-6ABB-7817-2A45A542DC9B}"/>
              </a:ext>
            </a:extLst>
          </p:cNvPr>
          <p:cNvGrpSpPr/>
          <p:nvPr/>
        </p:nvGrpSpPr>
        <p:grpSpPr>
          <a:xfrm rot="-2211212">
            <a:off x="-2305505" y="-1443650"/>
            <a:ext cx="4019963" cy="4493189"/>
            <a:chOff x="0" y="0"/>
            <a:chExt cx="981327" cy="109684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E77D2E95-CA0E-81F6-AE8C-3E5230DEFDDF}"/>
                </a:ext>
              </a:extLst>
            </p:cNvPr>
            <p:cNvSpPr/>
            <p:nvPr/>
          </p:nvSpPr>
          <p:spPr>
            <a:xfrm>
              <a:off x="0" y="0"/>
              <a:ext cx="981327" cy="1096848"/>
            </a:xfrm>
            <a:custGeom>
              <a:avLst/>
              <a:gdLst/>
              <a:ahLst/>
              <a:cxnLst/>
              <a:rect l="l" t="t" r="r" b="b"/>
              <a:pathLst>
                <a:path w="981327" h="1096848">
                  <a:moveTo>
                    <a:pt x="115552" y="0"/>
                  </a:moveTo>
                  <a:lnTo>
                    <a:pt x="865775" y="0"/>
                  </a:lnTo>
                  <a:cubicBezTo>
                    <a:pt x="896421" y="0"/>
                    <a:pt x="925812" y="12174"/>
                    <a:pt x="947482" y="33844"/>
                  </a:cubicBezTo>
                  <a:cubicBezTo>
                    <a:pt x="969153" y="55515"/>
                    <a:pt x="981327" y="84906"/>
                    <a:pt x="981327" y="115552"/>
                  </a:cubicBezTo>
                  <a:lnTo>
                    <a:pt x="981327" y="981296"/>
                  </a:lnTo>
                  <a:cubicBezTo>
                    <a:pt x="981327" y="1011942"/>
                    <a:pt x="969153" y="1041333"/>
                    <a:pt x="947482" y="1063004"/>
                  </a:cubicBezTo>
                  <a:cubicBezTo>
                    <a:pt x="925812" y="1084674"/>
                    <a:pt x="896421" y="1096848"/>
                    <a:pt x="865775" y="1096848"/>
                  </a:cubicBezTo>
                  <a:lnTo>
                    <a:pt x="115552" y="1096848"/>
                  </a:lnTo>
                  <a:cubicBezTo>
                    <a:pt x="84906" y="1096848"/>
                    <a:pt x="55515" y="1084674"/>
                    <a:pt x="33844" y="1063004"/>
                  </a:cubicBezTo>
                  <a:cubicBezTo>
                    <a:pt x="12174" y="1041333"/>
                    <a:pt x="0" y="1011942"/>
                    <a:pt x="0" y="981296"/>
                  </a:cubicBezTo>
                  <a:lnTo>
                    <a:pt x="0" y="115552"/>
                  </a:lnTo>
                  <a:cubicBezTo>
                    <a:pt x="0" y="84906"/>
                    <a:pt x="12174" y="55515"/>
                    <a:pt x="33844" y="33844"/>
                  </a:cubicBezTo>
                  <a:cubicBezTo>
                    <a:pt x="55515" y="12174"/>
                    <a:pt x="84906" y="0"/>
                    <a:pt x="11555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9FA5C8">
                    <a:alpha val="100000"/>
                  </a:srgbClr>
                </a:gs>
                <a:gs pos="100000">
                  <a:srgbClr val="9FA5C8">
                    <a:alpha val="0"/>
                  </a:srgbClr>
                </a:gs>
              </a:gsLst>
              <a:lin ang="0"/>
            </a:gradFill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AA66BBF9-CD81-B934-0470-9684ADB84769}"/>
                </a:ext>
              </a:extLst>
            </p:cNvPr>
            <p:cNvSpPr txBox="1"/>
            <p:nvPr/>
          </p:nvSpPr>
          <p:spPr>
            <a:xfrm>
              <a:off x="0" y="-47625"/>
              <a:ext cx="981327" cy="11444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963FB99B-EABF-D48F-3955-2D8DA73CBB95}"/>
              </a:ext>
            </a:extLst>
          </p:cNvPr>
          <p:cNvGrpSpPr/>
          <p:nvPr/>
        </p:nvGrpSpPr>
        <p:grpSpPr>
          <a:xfrm rot="-2211212">
            <a:off x="-1449957" y="-3920233"/>
            <a:ext cx="6950422" cy="4493189"/>
            <a:chOff x="0" y="0"/>
            <a:chExt cx="1696691" cy="1096848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AE6A22E3-C8C3-C85E-2ADB-3F7573571ECA}"/>
                </a:ext>
              </a:extLst>
            </p:cNvPr>
            <p:cNvSpPr/>
            <p:nvPr/>
          </p:nvSpPr>
          <p:spPr>
            <a:xfrm>
              <a:off x="0" y="0"/>
              <a:ext cx="1696691" cy="1096848"/>
            </a:xfrm>
            <a:custGeom>
              <a:avLst/>
              <a:gdLst/>
              <a:ahLst/>
              <a:cxnLst/>
              <a:rect l="l" t="t" r="r" b="b"/>
              <a:pathLst>
                <a:path w="1696691" h="1096848">
                  <a:moveTo>
                    <a:pt x="66833" y="0"/>
                  </a:moveTo>
                  <a:lnTo>
                    <a:pt x="1629859" y="0"/>
                  </a:lnTo>
                  <a:cubicBezTo>
                    <a:pt x="1647584" y="0"/>
                    <a:pt x="1664583" y="7041"/>
                    <a:pt x="1677117" y="19575"/>
                  </a:cubicBezTo>
                  <a:cubicBezTo>
                    <a:pt x="1689650" y="32108"/>
                    <a:pt x="1696691" y="49108"/>
                    <a:pt x="1696691" y="66833"/>
                  </a:cubicBezTo>
                  <a:lnTo>
                    <a:pt x="1696691" y="1030015"/>
                  </a:lnTo>
                  <a:cubicBezTo>
                    <a:pt x="1696691" y="1047740"/>
                    <a:pt x="1689650" y="1064740"/>
                    <a:pt x="1677117" y="1077273"/>
                  </a:cubicBezTo>
                  <a:cubicBezTo>
                    <a:pt x="1664583" y="1089807"/>
                    <a:pt x="1647584" y="1096848"/>
                    <a:pt x="1629859" y="1096848"/>
                  </a:cubicBezTo>
                  <a:lnTo>
                    <a:pt x="66833" y="1096848"/>
                  </a:lnTo>
                  <a:cubicBezTo>
                    <a:pt x="49108" y="1096848"/>
                    <a:pt x="32108" y="1089807"/>
                    <a:pt x="19575" y="1077273"/>
                  </a:cubicBezTo>
                  <a:cubicBezTo>
                    <a:pt x="7041" y="1064740"/>
                    <a:pt x="0" y="1047740"/>
                    <a:pt x="0" y="1030015"/>
                  </a:cubicBezTo>
                  <a:lnTo>
                    <a:pt x="0" y="66833"/>
                  </a:lnTo>
                  <a:cubicBezTo>
                    <a:pt x="0" y="49108"/>
                    <a:pt x="7041" y="32108"/>
                    <a:pt x="19575" y="19575"/>
                  </a:cubicBezTo>
                  <a:cubicBezTo>
                    <a:pt x="32108" y="7041"/>
                    <a:pt x="49108" y="0"/>
                    <a:pt x="66833" y="0"/>
                  </a:cubicBezTo>
                  <a:close/>
                </a:path>
              </a:pathLst>
            </a:custGeom>
            <a:solidFill>
              <a:srgbClr val="323B60"/>
            </a:solidFill>
          </p:spPr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79411B37-2501-A85B-56FF-8926DB08A100}"/>
                </a:ext>
              </a:extLst>
            </p:cNvPr>
            <p:cNvSpPr txBox="1"/>
            <p:nvPr/>
          </p:nvSpPr>
          <p:spPr>
            <a:xfrm>
              <a:off x="0" y="-47625"/>
              <a:ext cx="1696691" cy="11444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F38933A3-38C8-67AF-D44A-F334116AE548}"/>
              </a:ext>
            </a:extLst>
          </p:cNvPr>
          <p:cNvGrpSpPr/>
          <p:nvPr/>
        </p:nvGrpSpPr>
        <p:grpSpPr>
          <a:xfrm rot="-2211212">
            <a:off x="13784089" y="8980678"/>
            <a:ext cx="6950422" cy="4493189"/>
            <a:chOff x="0" y="0"/>
            <a:chExt cx="1696691" cy="1096848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C946D9E7-8613-2E3D-85A4-3F9013EF7417}"/>
                </a:ext>
              </a:extLst>
            </p:cNvPr>
            <p:cNvSpPr/>
            <p:nvPr/>
          </p:nvSpPr>
          <p:spPr>
            <a:xfrm>
              <a:off x="0" y="0"/>
              <a:ext cx="1696691" cy="1096848"/>
            </a:xfrm>
            <a:custGeom>
              <a:avLst/>
              <a:gdLst/>
              <a:ahLst/>
              <a:cxnLst/>
              <a:rect l="l" t="t" r="r" b="b"/>
              <a:pathLst>
                <a:path w="1696691" h="1096848">
                  <a:moveTo>
                    <a:pt x="66833" y="0"/>
                  </a:moveTo>
                  <a:lnTo>
                    <a:pt x="1629859" y="0"/>
                  </a:lnTo>
                  <a:cubicBezTo>
                    <a:pt x="1647584" y="0"/>
                    <a:pt x="1664583" y="7041"/>
                    <a:pt x="1677117" y="19575"/>
                  </a:cubicBezTo>
                  <a:cubicBezTo>
                    <a:pt x="1689650" y="32108"/>
                    <a:pt x="1696691" y="49108"/>
                    <a:pt x="1696691" y="66833"/>
                  </a:cubicBezTo>
                  <a:lnTo>
                    <a:pt x="1696691" y="1030015"/>
                  </a:lnTo>
                  <a:cubicBezTo>
                    <a:pt x="1696691" y="1047740"/>
                    <a:pt x="1689650" y="1064740"/>
                    <a:pt x="1677117" y="1077273"/>
                  </a:cubicBezTo>
                  <a:cubicBezTo>
                    <a:pt x="1664583" y="1089807"/>
                    <a:pt x="1647584" y="1096848"/>
                    <a:pt x="1629859" y="1096848"/>
                  </a:cubicBezTo>
                  <a:lnTo>
                    <a:pt x="66833" y="1096848"/>
                  </a:lnTo>
                  <a:cubicBezTo>
                    <a:pt x="49108" y="1096848"/>
                    <a:pt x="32108" y="1089807"/>
                    <a:pt x="19575" y="1077273"/>
                  </a:cubicBezTo>
                  <a:cubicBezTo>
                    <a:pt x="7041" y="1064740"/>
                    <a:pt x="0" y="1047740"/>
                    <a:pt x="0" y="1030015"/>
                  </a:cubicBezTo>
                  <a:lnTo>
                    <a:pt x="0" y="66833"/>
                  </a:lnTo>
                  <a:cubicBezTo>
                    <a:pt x="0" y="49108"/>
                    <a:pt x="7041" y="32108"/>
                    <a:pt x="19575" y="19575"/>
                  </a:cubicBezTo>
                  <a:cubicBezTo>
                    <a:pt x="32108" y="7041"/>
                    <a:pt x="49108" y="0"/>
                    <a:pt x="66833" y="0"/>
                  </a:cubicBezTo>
                  <a:close/>
                </a:path>
              </a:pathLst>
            </a:custGeom>
            <a:solidFill>
              <a:srgbClr val="323B60"/>
            </a:solidFill>
          </p:spPr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B967E865-CC67-8D53-5BEB-C95C3618BFC4}"/>
                </a:ext>
              </a:extLst>
            </p:cNvPr>
            <p:cNvSpPr txBox="1"/>
            <p:nvPr/>
          </p:nvSpPr>
          <p:spPr>
            <a:xfrm>
              <a:off x="0" y="-47625"/>
              <a:ext cx="1696691" cy="11444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11" name="TextBox 11">
            <a:extLst>
              <a:ext uri="{FF2B5EF4-FFF2-40B4-BE49-F238E27FC236}">
                <a16:creationId xmlns:a16="http://schemas.microsoft.com/office/drawing/2014/main" id="{6268D480-7F0B-A67D-47E8-CA82DEC88A6F}"/>
              </a:ext>
            </a:extLst>
          </p:cNvPr>
          <p:cNvSpPr txBox="1"/>
          <p:nvPr/>
        </p:nvSpPr>
        <p:spPr>
          <a:xfrm>
            <a:off x="3153754" y="1128855"/>
            <a:ext cx="11980492" cy="10259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000"/>
              </a:lnSpc>
            </a:pPr>
            <a:r>
              <a:rPr lang="en-US" sz="8000" b="1" spc="160" dirty="0">
                <a:solidFill>
                  <a:srgbClr val="4B548B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 RESULTS - FAILURES</a:t>
            </a:r>
          </a:p>
        </p:txBody>
      </p:sp>
      <p:pic>
        <p:nvPicPr>
          <p:cNvPr id="12" name="WhatsApp Video 2025-12-09 at 8.38.31 PM">
            <a:hlinkClick r:id="" action="ppaction://media"/>
            <a:extLst>
              <a:ext uri="{FF2B5EF4-FFF2-40B4-BE49-F238E27FC236}">
                <a16:creationId xmlns:a16="http://schemas.microsoft.com/office/drawing/2014/main" id="{563FCEAD-7F8B-7095-B18F-0A9BFAABE695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4114800" y="2378138"/>
            <a:ext cx="3657600" cy="6461125"/>
          </a:xfrm>
          <a:prstGeom prst="rect">
            <a:avLst/>
          </a:prstGeom>
        </p:spPr>
      </p:pic>
      <p:pic>
        <p:nvPicPr>
          <p:cNvPr id="15" name="WhatsApp Video 2025-12-09 at 8.39.13 PM">
            <a:hlinkClick r:id="" action="ppaction://media"/>
            <a:extLst>
              <a:ext uri="{FF2B5EF4-FFF2-40B4-BE49-F238E27FC236}">
                <a16:creationId xmlns:a16="http://schemas.microsoft.com/office/drawing/2014/main" id="{55C35779-D40A-09C8-3F95-E26054640E96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10134600" y="2404713"/>
            <a:ext cx="3657600" cy="6461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2964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033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17433" fill="hold"/>
                                        <p:tgtEl>
                                          <p:spTgt spid="1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26829">
                <p:cTn id="11" fill="hold" display="0">
                  <p:stCondLst>
                    <p:cond delay="indefinite"/>
                  </p:stCondLst>
                </p:cTn>
                <p:tgtEl>
                  <p:spTgt spid="12"/>
                </p:tgtEl>
              </p:cMediaNode>
            </p:video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6" dur="1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video>
              <p:cMediaNode vol="80000">
                <p:cTn id="17" fill="hold" display="0">
                  <p:stCondLst>
                    <p:cond delay="indefinite"/>
                  </p:stCondLst>
                </p:cTn>
                <p:tgtEl>
                  <p:spTgt spid="15"/>
                </p:tgtEl>
              </p:cMediaNode>
            </p:video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2" dur="1" fill="hold"/>
                                        <p:tgtEl>
                                          <p:spTgt spid="1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2211212">
            <a:off x="-2305505" y="-1443650"/>
            <a:ext cx="4019963" cy="4493189"/>
            <a:chOff x="0" y="0"/>
            <a:chExt cx="981327" cy="109684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81327" cy="1096848"/>
            </a:xfrm>
            <a:custGeom>
              <a:avLst/>
              <a:gdLst/>
              <a:ahLst/>
              <a:cxnLst/>
              <a:rect l="l" t="t" r="r" b="b"/>
              <a:pathLst>
                <a:path w="981327" h="1096848">
                  <a:moveTo>
                    <a:pt x="115552" y="0"/>
                  </a:moveTo>
                  <a:lnTo>
                    <a:pt x="865775" y="0"/>
                  </a:lnTo>
                  <a:cubicBezTo>
                    <a:pt x="896421" y="0"/>
                    <a:pt x="925812" y="12174"/>
                    <a:pt x="947482" y="33844"/>
                  </a:cubicBezTo>
                  <a:cubicBezTo>
                    <a:pt x="969153" y="55515"/>
                    <a:pt x="981327" y="84906"/>
                    <a:pt x="981327" y="115552"/>
                  </a:cubicBezTo>
                  <a:lnTo>
                    <a:pt x="981327" y="981296"/>
                  </a:lnTo>
                  <a:cubicBezTo>
                    <a:pt x="981327" y="1011942"/>
                    <a:pt x="969153" y="1041333"/>
                    <a:pt x="947482" y="1063004"/>
                  </a:cubicBezTo>
                  <a:cubicBezTo>
                    <a:pt x="925812" y="1084674"/>
                    <a:pt x="896421" y="1096848"/>
                    <a:pt x="865775" y="1096848"/>
                  </a:cubicBezTo>
                  <a:lnTo>
                    <a:pt x="115552" y="1096848"/>
                  </a:lnTo>
                  <a:cubicBezTo>
                    <a:pt x="84906" y="1096848"/>
                    <a:pt x="55515" y="1084674"/>
                    <a:pt x="33844" y="1063004"/>
                  </a:cubicBezTo>
                  <a:cubicBezTo>
                    <a:pt x="12174" y="1041333"/>
                    <a:pt x="0" y="1011942"/>
                    <a:pt x="0" y="981296"/>
                  </a:cubicBezTo>
                  <a:lnTo>
                    <a:pt x="0" y="115552"/>
                  </a:lnTo>
                  <a:cubicBezTo>
                    <a:pt x="0" y="84906"/>
                    <a:pt x="12174" y="55515"/>
                    <a:pt x="33844" y="33844"/>
                  </a:cubicBezTo>
                  <a:cubicBezTo>
                    <a:pt x="55515" y="12174"/>
                    <a:pt x="84906" y="0"/>
                    <a:pt x="11555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9FA5C8">
                    <a:alpha val="100000"/>
                  </a:srgbClr>
                </a:gs>
                <a:gs pos="100000">
                  <a:srgbClr val="9FA5C8">
                    <a:alpha val="0"/>
                  </a:srgbClr>
                </a:gs>
              </a:gsLst>
              <a:lin ang="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981327" cy="11444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-2211212">
            <a:off x="-1449957" y="-3920233"/>
            <a:ext cx="6950422" cy="4493189"/>
            <a:chOff x="0" y="0"/>
            <a:chExt cx="1696691" cy="109684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696691" cy="1096848"/>
            </a:xfrm>
            <a:custGeom>
              <a:avLst/>
              <a:gdLst/>
              <a:ahLst/>
              <a:cxnLst/>
              <a:rect l="l" t="t" r="r" b="b"/>
              <a:pathLst>
                <a:path w="1696691" h="1096848">
                  <a:moveTo>
                    <a:pt x="66833" y="0"/>
                  </a:moveTo>
                  <a:lnTo>
                    <a:pt x="1629859" y="0"/>
                  </a:lnTo>
                  <a:cubicBezTo>
                    <a:pt x="1647584" y="0"/>
                    <a:pt x="1664583" y="7041"/>
                    <a:pt x="1677117" y="19575"/>
                  </a:cubicBezTo>
                  <a:cubicBezTo>
                    <a:pt x="1689650" y="32108"/>
                    <a:pt x="1696691" y="49108"/>
                    <a:pt x="1696691" y="66833"/>
                  </a:cubicBezTo>
                  <a:lnTo>
                    <a:pt x="1696691" y="1030015"/>
                  </a:lnTo>
                  <a:cubicBezTo>
                    <a:pt x="1696691" y="1047740"/>
                    <a:pt x="1689650" y="1064740"/>
                    <a:pt x="1677117" y="1077273"/>
                  </a:cubicBezTo>
                  <a:cubicBezTo>
                    <a:pt x="1664583" y="1089807"/>
                    <a:pt x="1647584" y="1096848"/>
                    <a:pt x="1629859" y="1096848"/>
                  </a:cubicBezTo>
                  <a:lnTo>
                    <a:pt x="66833" y="1096848"/>
                  </a:lnTo>
                  <a:cubicBezTo>
                    <a:pt x="49108" y="1096848"/>
                    <a:pt x="32108" y="1089807"/>
                    <a:pt x="19575" y="1077273"/>
                  </a:cubicBezTo>
                  <a:cubicBezTo>
                    <a:pt x="7041" y="1064740"/>
                    <a:pt x="0" y="1047740"/>
                    <a:pt x="0" y="1030015"/>
                  </a:cubicBezTo>
                  <a:lnTo>
                    <a:pt x="0" y="66833"/>
                  </a:lnTo>
                  <a:cubicBezTo>
                    <a:pt x="0" y="49108"/>
                    <a:pt x="7041" y="32108"/>
                    <a:pt x="19575" y="19575"/>
                  </a:cubicBezTo>
                  <a:cubicBezTo>
                    <a:pt x="32108" y="7041"/>
                    <a:pt x="49108" y="0"/>
                    <a:pt x="66833" y="0"/>
                  </a:cubicBezTo>
                  <a:close/>
                </a:path>
              </a:pathLst>
            </a:custGeom>
            <a:solidFill>
              <a:srgbClr val="323B6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1696691" cy="11444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 rot="-2211212">
            <a:off x="13784089" y="8980678"/>
            <a:ext cx="6950422" cy="4493189"/>
            <a:chOff x="0" y="0"/>
            <a:chExt cx="1696691" cy="109684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696691" cy="1096848"/>
            </a:xfrm>
            <a:custGeom>
              <a:avLst/>
              <a:gdLst/>
              <a:ahLst/>
              <a:cxnLst/>
              <a:rect l="l" t="t" r="r" b="b"/>
              <a:pathLst>
                <a:path w="1696691" h="1096848">
                  <a:moveTo>
                    <a:pt x="66833" y="0"/>
                  </a:moveTo>
                  <a:lnTo>
                    <a:pt x="1629859" y="0"/>
                  </a:lnTo>
                  <a:cubicBezTo>
                    <a:pt x="1647584" y="0"/>
                    <a:pt x="1664583" y="7041"/>
                    <a:pt x="1677117" y="19575"/>
                  </a:cubicBezTo>
                  <a:cubicBezTo>
                    <a:pt x="1689650" y="32108"/>
                    <a:pt x="1696691" y="49108"/>
                    <a:pt x="1696691" y="66833"/>
                  </a:cubicBezTo>
                  <a:lnTo>
                    <a:pt x="1696691" y="1030015"/>
                  </a:lnTo>
                  <a:cubicBezTo>
                    <a:pt x="1696691" y="1047740"/>
                    <a:pt x="1689650" y="1064740"/>
                    <a:pt x="1677117" y="1077273"/>
                  </a:cubicBezTo>
                  <a:cubicBezTo>
                    <a:pt x="1664583" y="1089807"/>
                    <a:pt x="1647584" y="1096848"/>
                    <a:pt x="1629859" y="1096848"/>
                  </a:cubicBezTo>
                  <a:lnTo>
                    <a:pt x="66833" y="1096848"/>
                  </a:lnTo>
                  <a:cubicBezTo>
                    <a:pt x="49108" y="1096848"/>
                    <a:pt x="32108" y="1089807"/>
                    <a:pt x="19575" y="1077273"/>
                  </a:cubicBezTo>
                  <a:cubicBezTo>
                    <a:pt x="7041" y="1064740"/>
                    <a:pt x="0" y="1047740"/>
                    <a:pt x="0" y="1030015"/>
                  </a:cubicBezTo>
                  <a:lnTo>
                    <a:pt x="0" y="66833"/>
                  </a:lnTo>
                  <a:cubicBezTo>
                    <a:pt x="0" y="49108"/>
                    <a:pt x="7041" y="32108"/>
                    <a:pt x="19575" y="19575"/>
                  </a:cubicBezTo>
                  <a:cubicBezTo>
                    <a:pt x="32108" y="7041"/>
                    <a:pt x="49108" y="0"/>
                    <a:pt x="66833" y="0"/>
                  </a:cubicBezTo>
                  <a:close/>
                </a:path>
              </a:pathLst>
            </a:custGeom>
            <a:solidFill>
              <a:srgbClr val="323B60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1696691" cy="11444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3153754" y="1128855"/>
            <a:ext cx="11980492" cy="10259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000"/>
              </a:lnSpc>
            </a:pPr>
            <a:r>
              <a:rPr lang="en-US" sz="8000" b="1" spc="160" dirty="0">
                <a:solidFill>
                  <a:srgbClr val="4B548B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 RESULTS - SUCCESSES</a:t>
            </a:r>
          </a:p>
        </p:txBody>
      </p:sp>
      <p:pic>
        <p:nvPicPr>
          <p:cNvPr id="13" name="ok">
            <a:hlinkClick r:id="" action="ppaction://media"/>
            <a:extLst>
              <a:ext uri="{FF2B5EF4-FFF2-40B4-BE49-F238E27FC236}">
                <a16:creationId xmlns:a16="http://schemas.microsoft.com/office/drawing/2014/main" id="{4450EE55-3638-F1AD-0E8B-818BD65CD0B7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4038600" y="2517880"/>
            <a:ext cx="3657600" cy="6461125"/>
          </a:xfrm>
          <a:prstGeom prst="rect">
            <a:avLst/>
          </a:prstGeom>
        </p:spPr>
      </p:pic>
      <p:pic>
        <p:nvPicPr>
          <p:cNvPr id="14" name="final">
            <a:hlinkClick r:id="" action="ppaction://media"/>
            <a:extLst>
              <a:ext uri="{FF2B5EF4-FFF2-40B4-BE49-F238E27FC236}">
                <a16:creationId xmlns:a16="http://schemas.microsoft.com/office/drawing/2014/main" id="{FA8D32C6-1A18-57F8-8374-CB43F554FCC0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10287000" y="2517880"/>
            <a:ext cx="3657600" cy="64611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6695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17809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0">
                <p:cTn id="11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6" dur="1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video>
              <p:cMediaNode vol="80000" mute="1">
                <p:cTn id="17" fill="hold" display="0">
                  <p:stCondLst>
                    <p:cond delay="indefinite"/>
                  </p:stCondLst>
                </p:cTn>
                <p:tgtEl>
                  <p:spTgt spid="14"/>
                </p:tgtEl>
              </p:cMediaNode>
            </p:video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2" dur="1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6526E1-CA31-2F8D-E2BC-7FBDB2DA3C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ABA23863-0683-07DF-5D1D-1612FA318FAD}"/>
              </a:ext>
            </a:extLst>
          </p:cNvPr>
          <p:cNvGrpSpPr/>
          <p:nvPr/>
        </p:nvGrpSpPr>
        <p:grpSpPr>
          <a:xfrm rot="-2211212">
            <a:off x="-2305505" y="-1443650"/>
            <a:ext cx="4019963" cy="4493189"/>
            <a:chOff x="0" y="0"/>
            <a:chExt cx="981327" cy="109684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299193B3-F12C-AE2F-A425-15D5E150BED1}"/>
                </a:ext>
              </a:extLst>
            </p:cNvPr>
            <p:cNvSpPr/>
            <p:nvPr/>
          </p:nvSpPr>
          <p:spPr>
            <a:xfrm>
              <a:off x="0" y="0"/>
              <a:ext cx="981327" cy="1096848"/>
            </a:xfrm>
            <a:custGeom>
              <a:avLst/>
              <a:gdLst/>
              <a:ahLst/>
              <a:cxnLst/>
              <a:rect l="l" t="t" r="r" b="b"/>
              <a:pathLst>
                <a:path w="981327" h="1096848">
                  <a:moveTo>
                    <a:pt x="115552" y="0"/>
                  </a:moveTo>
                  <a:lnTo>
                    <a:pt x="865775" y="0"/>
                  </a:lnTo>
                  <a:cubicBezTo>
                    <a:pt x="896421" y="0"/>
                    <a:pt x="925812" y="12174"/>
                    <a:pt x="947482" y="33844"/>
                  </a:cubicBezTo>
                  <a:cubicBezTo>
                    <a:pt x="969153" y="55515"/>
                    <a:pt x="981327" y="84906"/>
                    <a:pt x="981327" y="115552"/>
                  </a:cubicBezTo>
                  <a:lnTo>
                    <a:pt x="981327" y="981296"/>
                  </a:lnTo>
                  <a:cubicBezTo>
                    <a:pt x="981327" y="1011942"/>
                    <a:pt x="969153" y="1041333"/>
                    <a:pt x="947482" y="1063004"/>
                  </a:cubicBezTo>
                  <a:cubicBezTo>
                    <a:pt x="925812" y="1084674"/>
                    <a:pt x="896421" y="1096848"/>
                    <a:pt x="865775" y="1096848"/>
                  </a:cubicBezTo>
                  <a:lnTo>
                    <a:pt x="115552" y="1096848"/>
                  </a:lnTo>
                  <a:cubicBezTo>
                    <a:pt x="84906" y="1096848"/>
                    <a:pt x="55515" y="1084674"/>
                    <a:pt x="33844" y="1063004"/>
                  </a:cubicBezTo>
                  <a:cubicBezTo>
                    <a:pt x="12174" y="1041333"/>
                    <a:pt x="0" y="1011942"/>
                    <a:pt x="0" y="981296"/>
                  </a:cubicBezTo>
                  <a:lnTo>
                    <a:pt x="0" y="115552"/>
                  </a:lnTo>
                  <a:cubicBezTo>
                    <a:pt x="0" y="84906"/>
                    <a:pt x="12174" y="55515"/>
                    <a:pt x="33844" y="33844"/>
                  </a:cubicBezTo>
                  <a:cubicBezTo>
                    <a:pt x="55515" y="12174"/>
                    <a:pt x="84906" y="0"/>
                    <a:pt x="11555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9FA5C8">
                    <a:alpha val="100000"/>
                  </a:srgbClr>
                </a:gs>
                <a:gs pos="100000">
                  <a:srgbClr val="9FA5C8">
                    <a:alpha val="0"/>
                  </a:srgbClr>
                </a:gs>
              </a:gsLst>
              <a:lin ang="0"/>
            </a:gradFill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A10048F6-F657-E032-AC68-2736F1B120A7}"/>
                </a:ext>
              </a:extLst>
            </p:cNvPr>
            <p:cNvSpPr txBox="1"/>
            <p:nvPr/>
          </p:nvSpPr>
          <p:spPr>
            <a:xfrm>
              <a:off x="0" y="-47625"/>
              <a:ext cx="981327" cy="11444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93F2C953-82F0-1868-C2D0-8E2B7081CE64}"/>
              </a:ext>
            </a:extLst>
          </p:cNvPr>
          <p:cNvGrpSpPr/>
          <p:nvPr/>
        </p:nvGrpSpPr>
        <p:grpSpPr>
          <a:xfrm rot="-2211212">
            <a:off x="-1449957" y="-3920233"/>
            <a:ext cx="6950422" cy="4493189"/>
            <a:chOff x="0" y="0"/>
            <a:chExt cx="1696691" cy="1096848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F54C1F0-3BE5-AF32-A0DF-2D657AA36F8B}"/>
                </a:ext>
              </a:extLst>
            </p:cNvPr>
            <p:cNvSpPr/>
            <p:nvPr/>
          </p:nvSpPr>
          <p:spPr>
            <a:xfrm>
              <a:off x="0" y="0"/>
              <a:ext cx="1696691" cy="1096848"/>
            </a:xfrm>
            <a:custGeom>
              <a:avLst/>
              <a:gdLst/>
              <a:ahLst/>
              <a:cxnLst/>
              <a:rect l="l" t="t" r="r" b="b"/>
              <a:pathLst>
                <a:path w="1696691" h="1096848">
                  <a:moveTo>
                    <a:pt x="66833" y="0"/>
                  </a:moveTo>
                  <a:lnTo>
                    <a:pt x="1629859" y="0"/>
                  </a:lnTo>
                  <a:cubicBezTo>
                    <a:pt x="1647584" y="0"/>
                    <a:pt x="1664583" y="7041"/>
                    <a:pt x="1677117" y="19575"/>
                  </a:cubicBezTo>
                  <a:cubicBezTo>
                    <a:pt x="1689650" y="32108"/>
                    <a:pt x="1696691" y="49108"/>
                    <a:pt x="1696691" y="66833"/>
                  </a:cubicBezTo>
                  <a:lnTo>
                    <a:pt x="1696691" y="1030015"/>
                  </a:lnTo>
                  <a:cubicBezTo>
                    <a:pt x="1696691" y="1047740"/>
                    <a:pt x="1689650" y="1064740"/>
                    <a:pt x="1677117" y="1077273"/>
                  </a:cubicBezTo>
                  <a:cubicBezTo>
                    <a:pt x="1664583" y="1089807"/>
                    <a:pt x="1647584" y="1096848"/>
                    <a:pt x="1629859" y="1096848"/>
                  </a:cubicBezTo>
                  <a:lnTo>
                    <a:pt x="66833" y="1096848"/>
                  </a:lnTo>
                  <a:cubicBezTo>
                    <a:pt x="49108" y="1096848"/>
                    <a:pt x="32108" y="1089807"/>
                    <a:pt x="19575" y="1077273"/>
                  </a:cubicBezTo>
                  <a:cubicBezTo>
                    <a:pt x="7041" y="1064740"/>
                    <a:pt x="0" y="1047740"/>
                    <a:pt x="0" y="1030015"/>
                  </a:cubicBezTo>
                  <a:lnTo>
                    <a:pt x="0" y="66833"/>
                  </a:lnTo>
                  <a:cubicBezTo>
                    <a:pt x="0" y="49108"/>
                    <a:pt x="7041" y="32108"/>
                    <a:pt x="19575" y="19575"/>
                  </a:cubicBezTo>
                  <a:cubicBezTo>
                    <a:pt x="32108" y="7041"/>
                    <a:pt x="49108" y="0"/>
                    <a:pt x="66833" y="0"/>
                  </a:cubicBezTo>
                  <a:close/>
                </a:path>
              </a:pathLst>
            </a:custGeom>
            <a:solidFill>
              <a:srgbClr val="323B60"/>
            </a:solidFill>
          </p:spPr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044E837A-282E-29DB-D8F1-B749BE547BF7}"/>
                </a:ext>
              </a:extLst>
            </p:cNvPr>
            <p:cNvSpPr txBox="1"/>
            <p:nvPr/>
          </p:nvSpPr>
          <p:spPr>
            <a:xfrm>
              <a:off x="0" y="-47625"/>
              <a:ext cx="1696691" cy="11444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E6F6D5B3-C09D-301E-FE7C-EFEADEB6B4F4}"/>
              </a:ext>
            </a:extLst>
          </p:cNvPr>
          <p:cNvGrpSpPr/>
          <p:nvPr/>
        </p:nvGrpSpPr>
        <p:grpSpPr>
          <a:xfrm rot="-2211212">
            <a:off x="13784089" y="8980678"/>
            <a:ext cx="6950422" cy="4493189"/>
            <a:chOff x="0" y="0"/>
            <a:chExt cx="1696691" cy="1096848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8187F02E-A3A0-99BA-AC1B-E95A36BFFF63}"/>
                </a:ext>
              </a:extLst>
            </p:cNvPr>
            <p:cNvSpPr/>
            <p:nvPr/>
          </p:nvSpPr>
          <p:spPr>
            <a:xfrm>
              <a:off x="0" y="0"/>
              <a:ext cx="1696691" cy="1096848"/>
            </a:xfrm>
            <a:custGeom>
              <a:avLst/>
              <a:gdLst/>
              <a:ahLst/>
              <a:cxnLst/>
              <a:rect l="l" t="t" r="r" b="b"/>
              <a:pathLst>
                <a:path w="1696691" h="1096848">
                  <a:moveTo>
                    <a:pt x="66833" y="0"/>
                  </a:moveTo>
                  <a:lnTo>
                    <a:pt x="1629859" y="0"/>
                  </a:lnTo>
                  <a:cubicBezTo>
                    <a:pt x="1647584" y="0"/>
                    <a:pt x="1664583" y="7041"/>
                    <a:pt x="1677117" y="19575"/>
                  </a:cubicBezTo>
                  <a:cubicBezTo>
                    <a:pt x="1689650" y="32108"/>
                    <a:pt x="1696691" y="49108"/>
                    <a:pt x="1696691" y="66833"/>
                  </a:cubicBezTo>
                  <a:lnTo>
                    <a:pt x="1696691" y="1030015"/>
                  </a:lnTo>
                  <a:cubicBezTo>
                    <a:pt x="1696691" y="1047740"/>
                    <a:pt x="1689650" y="1064740"/>
                    <a:pt x="1677117" y="1077273"/>
                  </a:cubicBezTo>
                  <a:cubicBezTo>
                    <a:pt x="1664583" y="1089807"/>
                    <a:pt x="1647584" y="1096848"/>
                    <a:pt x="1629859" y="1096848"/>
                  </a:cubicBezTo>
                  <a:lnTo>
                    <a:pt x="66833" y="1096848"/>
                  </a:lnTo>
                  <a:cubicBezTo>
                    <a:pt x="49108" y="1096848"/>
                    <a:pt x="32108" y="1089807"/>
                    <a:pt x="19575" y="1077273"/>
                  </a:cubicBezTo>
                  <a:cubicBezTo>
                    <a:pt x="7041" y="1064740"/>
                    <a:pt x="0" y="1047740"/>
                    <a:pt x="0" y="1030015"/>
                  </a:cubicBezTo>
                  <a:lnTo>
                    <a:pt x="0" y="66833"/>
                  </a:lnTo>
                  <a:cubicBezTo>
                    <a:pt x="0" y="49108"/>
                    <a:pt x="7041" y="32108"/>
                    <a:pt x="19575" y="19575"/>
                  </a:cubicBezTo>
                  <a:cubicBezTo>
                    <a:pt x="32108" y="7041"/>
                    <a:pt x="49108" y="0"/>
                    <a:pt x="66833" y="0"/>
                  </a:cubicBezTo>
                  <a:close/>
                </a:path>
              </a:pathLst>
            </a:custGeom>
            <a:solidFill>
              <a:srgbClr val="323B60"/>
            </a:solidFill>
          </p:spPr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6B6D1905-8BF2-C8A5-DDAC-F75D01437E67}"/>
                </a:ext>
              </a:extLst>
            </p:cNvPr>
            <p:cNvSpPr txBox="1"/>
            <p:nvPr/>
          </p:nvSpPr>
          <p:spPr>
            <a:xfrm>
              <a:off x="0" y="-47625"/>
              <a:ext cx="1696691" cy="11444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11" name="TextBox 11">
            <a:extLst>
              <a:ext uri="{FF2B5EF4-FFF2-40B4-BE49-F238E27FC236}">
                <a16:creationId xmlns:a16="http://schemas.microsoft.com/office/drawing/2014/main" id="{F04D5684-9616-F169-34BB-4FB2EDC0F6E0}"/>
              </a:ext>
            </a:extLst>
          </p:cNvPr>
          <p:cNvSpPr txBox="1"/>
          <p:nvPr/>
        </p:nvSpPr>
        <p:spPr>
          <a:xfrm>
            <a:off x="3153754" y="1128855"/>
            <a:ext cx="11980492" cy="10259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000"/>
              </a:lnSpc>
            </a:pPr>
            <a:r>
              <a:rPr lang="en-US" sz="8000" b="1" spc="160" dirty="0">
                <a:solidFill>
                  <a:srgbClr val="4B548B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 RESULTS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ACC8FD8-658A-DFDA-AC6C-A3BF4ECB2A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2628900"/>
            <a:ext cx="8686803" cy="312182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D2FA3B05-5888-B0D9-F862-EC574BF2DF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276" y="2959284"/>
            <a:ext cx="8295630" cy="201364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A3BFA750-BF88-3C12-7BD9-F1787D9F08D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276" y="4917475"/>
            <a:ext cx="8295630" cy="1518549"/>
          </a:xfrm>
          <a:prstGeom prst="rect">
            <a:avLst/>
          </a:prstGeom>
        </p:spPr>
      </p:pic>
      <p:sp>
        <p:nvSpPr>
          <p:cNvPr id="22" name="TextBox 16">
            <a:extLst>
              <a:ext uri="{FF2B5EF4-FFF2-40B4-BE49-F238E27FC236}">
                <a16:creationId xmlns:a16="http://schemas.microsoft.com/office/drawing/2014/main" id="{98B10E29-A04A-F99A-74AA-F4B66A8C83A0}"/>
              </a:ext>
            </a:extLst>
          </p:cNvPr>
          <p:cNvSpPr txBox="1"/>
          <p:nvPr/>
        </p:nvSpPr>
        <p:spPr>
          <a:xfrm>
            <a:off x="-659588" y="6832288"/>
            <a:ext cx="9767452" cy="3462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94311" lvl="1" algn="ctr">
              <a:lnSpc>
                <a:spcPts val="2700"/>
              </a:lnSpc>
            </a:pPr>
            <a:r>
              <a:rPr lang="en-US" sz="2400" b="1" spc="270" dirty="0">
                <a:solidFill>
                  <a:srgbClr val="22263E"/>
                </a:solidFill>
                <a:latin typeface="Inter"/>
                <a:ea typeface="Inter"/>
                <a:cs typeface="Inter"/>
                <a:sym typeface="Inter"/>
              </a:rPr>
              <a:t>Fig 2a: Terminal Output at Initial Run Stage</a:t>
            </a:r>
          </a:p>
        </p:txBody>
      </p:sp>
      <p:sp>
        <p:nvSpPr>
          <p:cNvPr id="23" name="TextBox 16">
            <a:extLst>
              <a:ext uri="{FF2B5EF4-FFF2-40B4-BE49-F238E27FC236}">
                <a16:creationId xmlns:a16="http://schemas.microsoft.com/office/drawing/2014/main" id="{EFB3C3BC-F14F-EDB1-CC67-80EAD19B14A8}"/>
              </a:ext>
            </a:extLst>
          </p:cNvPr>
          <p:cNvSpPr txBox="1"/>
          <p:nvPr/>
        </p:nvSpPr>
        <p:spPr>
          <a:xfrm>
            <a:off x="8001000" y="6725348"/>
            <a:ext cx="9767452" cy="3462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94311" lvl="1" algn="ctr">
              <a:lnSpc>
                <a:spcPts val="2700"/>
              </a:lnSpc>
            </a:pPr>
            <a:r>
              <a:rPr lang="en-US" sz="2400" b="1" spc="270" dirty="0">
                <a:solidFill>
                  <a:srgbClr val="22263E"/>
                </a:solidFill>
                <a:latin typeface="Inter"/>
                <a:ea typeface="Inter"/>
                <a:cs typeface="Inter"/>
                <a:sym typeface="Inter"/>
              </a:rPr>
              <a:t>Fig 2b: Terminal Output at Final Run Stage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3BF5DADC-848D-E283-AECB-C4F922E4693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812" y="5680817"/>
            <a:ext cx="8686803" cy="888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05137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B0D61D-99EF-7C17-5B5D-2B1BC4F044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9B71C1EF-A331-3A1E-A8B6-B82075828614}"/>
              </a:ext>
            </a:extLst>
          </p:cNvPr>
          <p:cNvGrpSpPr/>
          <p:nvPr/>
        </p:nvGrpSpPr>
        <p:grpSpPr>
          <a:xfrm rot="-2211212">
            <a:off x="-2305505" y="-1443650"/>
            <a:ext cx="4019963" cy="4493189"/>
            <a:chOff x="0" y="0"/>
            <a:chExt cx="981327" cy="109684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BD2A2CCB-02F5-C0C1-F084-16260A97AC44}"/>
                </a:ext>
              </a:extLst>
            </p:cNvPr>
            <p:cNvSpPr/>
            <p:nvPr/>
          </p:nvSpPr>
          <p:spPr>
            <a:xfrm>
              <a:off x="0" y="0"/>
              <a:ext cx="981327" cy="1096848"/>
            </a:xfrm>
            <a:custGeom>
              <a:avLst/>
              <a:gdLst/>
              <a:ahLst/>
              <a:cxnLst/>
              <a:rect l="l" t="t" r="r" b="b"/>
              <a:pathLst>
                <a:path w="981327" h="1096848">
                  <a:moveTo>
                    <a:pt x="115552" y="0"/>
                  </a:moveTo>
                  <a:lnTo>
                    <a:pt x="865775" y="0"/>
                  </a:lnTo>
                  <a:cubicBezTo>
                    <a:pt x="896421" y="0"/>
                    <a:pt x="925812" y="12174"/>
                    <a:pt x="947482" y="33844"/>
                  </a:cubicBezTo>
                  <a:cubicBezTo>
                    <a:pt x="969153" y="55515"/>
                    <a:pt x="981327" y="84906"/>
                    <a:pt x="981327" y="115552"/>
                  </a:cubicBezTo>
                  <a:lnTo>
                    <a:pt x="981327" y="981296"/>
                  </a:lnTo>
                  <a:cubicBezTo>
                    <a:pt x="981327" y="1011942"/>
                    <a:pt x="969153" y="1041333"/>
                    <a:pt x="947482" y="1063004"/>
                  </a:cubicBezTo>
                  <a:cubicBezTo>
                    <a:pt x="925812" y="1084674"/>
                    <a:pt x="896421" y="1096848"/>
                    <a:pt x="865775" y="1096848"/>
                  </a:cubicBezTo>
                  <a:lnTo>
                    <a:pt x="115552" y="1096848"/>
                  </a:lnTo>
                  <a:cubicBezTo>
                    <a:pt x="84906" y="1096848"/>
                    <a:pt x="55515" y="1084674"/>
                    <a:pt x="33844" y="1063004"/>
                  </a:cubicBezTo>
                  <a:cubicBezTo>
                    <a:pt x="12174" y="1041333"/>
                    <a:pt x="0" y="1011942"/>
                    <a:pt x="0" y="981296"/>
                  </a:cubicBezTo>
                  <a:lnTo>
                    <a:pt x="0" y="115552"/>
                  </a:lnTo>
                  <a:cubicBezTo>
                    <a:pt x="0" y="84906"/>
                    <a:pt x="12174" y="55515"/>
                    <a:pt x="33844" y="33844"/>
                  </a:cubicBezTo>
                  <a:cubicBezTo>
                    <a:pt x="55515" y="12174"/>
                    <a:pt x="84906" y="0"/>
                    <a:pt x="11555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9FA5C8">
                    <a:alpha val="100000"/>
                  </a:srgbClr>
                </a:gs>
                <a:gs pos="100000">
                  <a:srgbClr val="9FA5C8">
                    <a:alpha val="0"/>
                  </a:srgbClr>
                </a:gs>
              </a:gsLst>
              <a:lin ang="0"/>
            </a:gradFill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7F2B722D-784E-ACCC-50C9-0D8D33B7C2DB}"/>
                </a:ext>
              </a:extLst>
            </p:cNvPr>
            <p:cNvSpPr txBox="1"/>
            <p:nvPr/>
          </p:nvSpPr>
          <p:spPr>
            <a:xfrm>
              <a:off x="0" y="-47625"/>
              <a:ext cx="981327" cy="11444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E6A73514-21DD-2FE1-BB39-A145999167C3}"/>
              </a:ext>
            </a:extLst>
          </p:cNvPr>
          <p:cNvGrpSpPr/>
          <p:nvPr/>
        </p:nvGrpSpPr>
        <p:grpSpPr>
          <a:xfrm rot="-2211212">
            <a:off x="-1449957" y="-3920233"/>
            <a:ext cx="6950422" cy="4493189"/>
            <a:chOff x="0" y="0"/>
            <a:chExt cx="1696691" cy="1096848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72455764-8449-1CF0-8FB1-66C817AAFC75}"/>
                </a:ext>
              </a:extLst>
            </p:cNvPr>
            <p:cNvSpPr/>
            <p:nvPr/>
          </p:nvSpPr>
          <p:spPr>
            <a:xfrm>
              <a:off x="0" y="0"/>
              <a:ext cx="1696691" cy="1096848"/>
            </a:xfrm>
            <a:custGeom>
              <a:avLst/>
              <a:gdLst/>
              <a:ahLst/>
              <a:cxnLst/>
              <a:rect l="l" t="t" r="r" b="b"/>
              <a:pathLst>
                <a:path w="1696691" h="1096848">
                  <a:moveTo>
                    <a:pt x="66833" y="0"/>
                  </a:moveTo>
                  <a:lnTo>
                    <a:pt x="1629859" y="0"/>
                  </a:lnTo>
                  <a:cubicBezTo>
                    <a:pt x="1647584" y="0"/>
                    <a:pt x="1664583" y="7041"/>
                    <a:pt x="1677117" y="19575"/>
                  </a:cubicBezTo>
                  <a:cubicBezTo>
                    <a:pt x="1689650" y="32108"/>
                    <a:pt x="1696691" y="49108"/>
                    <a:pt x="1696691" y="66833"/>
                  </a:cubicBezTo>
                  <a:lnTo>
                    <a:pt x="1696691" y="1030015"/>
                  </a:lnTo>
                  <a:cubicBezTo>
                    <a:pt x="1696691" y="1047740"/>
                    <a:pt x="1689650" y="1064740"/>
                    <a:pt x="1677117" y="1077273"/>
                  </a:cubicBezTo>
                  <a:cubicBezTo>
                    <a:pt x="1664583" y="1089807"/>
                    <a:pt x="1647584" y="1096848"/>
                    <a:pt x="1629859" y="1096848"/>
                  </a:cubicBezTo>
                  <a:lnTo>
                    <a:pt x="66833" y="1096848"/>
                  </a:lnTo>
                  <a:cubicBezTo>
                    <a:pt x="49108" y="1096848"/>
                    <a:pt x="32108" y="1089807"/>
                    <a:pt x="19575" y="1077273"/>
                  </a:cubicBezTo>
                  <a:cubicBezTo>
                    <a:pt x="7041" y="1064740"/>
                    <a:pt x="0" y="1047740"/>
                    <a:pt x="0" y="1030015"/>
                  </a:cubicBezTo>
                  <a:lnTo>
                    <a:pt x="0" y="66833"/>
                  </a:lnTo>
                  <a:cubicBezTo>
                    <a:pt x="0" y="49108"/>
                    <a:pt x="7041" y="32108"/>
                    <a:pt x="19575" y="19575"/>
                  </a:cubicBezTo>
                  <a:cubicBezTo>
                    <a:pt x="32108" y="7041"/>
                    <a:pt x="49108" y="0"/>
                    <a:pt x="66833" y="0"/>
                  </a:cubicBezTo>
                  <a:close/>
                </a:path>
              </a:pathLst>
            </a:custGeom>
            <a:solidFill>
              <a:srgbClr val="323B60"/>
            </a:solidFill>
          </p:spPr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60942D1C-3239-F21A-A20E-A7FA859029E9}"/>
                </a:ext>
              </a:extLst>
            </p:cNvPr>
            <p:cNvSpPr txBox="1"/>
            <p:nvPr/>
          </p:nvSpPr>
          <p:spPr>
            <a:xfrm>
              <a:off x="0" y="-47625"/>
              <a:ext cx="1696691" cy="11444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E91B3A0A-6204-2EA2-7B58-4C33D873DF01}"/>
              </a:ext>
            </a:extLst>
          </p:cNvPr>
          <p:cNvGrpSpPr/>
          <p:nvPr/>
        </p:nvGrpSpPr>
        <p:grpSpPr>
          <a:xfrm rot="-2211212">
            <a:off x="13784089" y="8980678"/>
            <a:ext cx="6950422" cy="4493189"/>
            <a:chOff x="0" y="0"/>
            <a:chExt cx="1696691" cy="1096848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D090617F-34D9-3B28-10B0-28C653E77E41}"/>
                </a:ext>
              </a:extLst>
            </p:cNvPr>
            <p:cNvSpPr/>
            <p:nvPr/>
          </p:nvSpPr>
          <p:spPr>
            <a:xfrm>
              <a:off x="0" y="0"/>
              <a:ext cx="1696691" cy="1096848"/>
            </a:xfrm>
            <a:custGeom>
              <a:avLst/>
              <a:gdLst/>
              <a:ahLst/>
              <a:cxnLst/>
              <a:rect l="l" t="t" r="r" b="b"/>
              <a:pathLst>
                <a:path w="1696691" h="1096848">
                  <a:moveTo>
                    <a:pt x="66833" y="0"/>
                  </a:moveTo>
                  <a:lnTo>
                    <a:pt x="1629859" y="0"/>
                  </a:lnTo>
                  <a:cubicBezTo>
                    <a:pt x="1647584" y="0"/>
                    <a:pt x="1664583" y="7041"/>
                    <a:pt x="1677117" y="19575"/>
                  </a:cubicBezTo>
                  <a:cubicBezTo>
                    <a:pt x="1689650" y="32108"/>
                    <a:pt x="1696691" y="49108"/>
                    <a:pt x="1696691" y="66833"/>
                  </a:cubicBezTo>
                  <a:lnTo>
                    <a:pt x="1696691" y="1030015"/>
                  </a:lnTo>
                  <a:cubicBezTo>
                    <a:pt x="1696691" y="1047740"/>
                    <a:pt x="1689650" y="1064740"/>
                    <a:pt x="1677117" y="1077273"/>
                  </a:cubicBezTo>
                  <a:cubicBezTo>
                    <a:pt x="1664583" y="1089807"/>
                    <a:pt x="1647584" y="1096848"/>
                    <a:pt x="1629859" y="1096848"/>
                  </a:cubicBezTo>
                  <a:lnTo>
                    <a:pt x="66833" y="1096848"/>
                  </a:lnTo>
                  <a:cubicBezTo>
                    <a:pt x="49108" y="1096848"/>
                    <a:pt x="32108" y="1089807"/>
                    <a:pt x="19575" y="1077273"/>
                  </a:cubicBezTo>
                  <a:cubicBezTo>
                    <a:pt x="7041" y="1064740"/>
                    <a:pt x="0" y="1047740"/>
                    <a:pt x="0" y="1030015"/>
                  </a:cubicBezTo>
                  <a:lnTo>
                    <a:pt x="0" y="66833"/>
                  </a:lnTo>
                  <a:cubicBezTo>
                    <a:pt x="0" y="49108"/>
                    <a:pt x="7041" y="32108"/>
                    <a:pt x="19575" y="19575"/>
                  </a:cubicBezTo>
                  <a:cubicBezTo>
                    <a:pt x="32108" y="7041"/>
                    <a:pt x="49108" y="0"/>
                    <a:pt x="66833" y="0"/>
                  </a:cubicBezTo>
                  <a:close/>
                </a:path>
              </a:pathLst>
            </a:custGeom>
            <a:solidFill>
              <a:srgbClr val="323B60"/>
            </a:solidFill>
          </p:spPr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114B1023-3EC0-DBC1-EF3D-A653B3DFA46E}"/>
                </a:ext>
              </a:extLst>
            </p:cNvPr>
            <p:cNvSpPr txBox="1"/>
            <p:nvPr/>
          </p:nvSpPr>
          <p:spPr>
            <a:xfrm>
              <a:off x="0" y="-47625"/>
              <a:ext cx="1696691" cy="11444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11" name="TextBox 11">
            <a:extLst>
              <a:ext uri="{FF2B5EF4-FFF2-40B4-BE49-F238E27FC236}">
                <a16:creationId xmlns:a16="http://schemas.microsoft.com/office/drawing/2014/main" id="{0E8BF0C2-D9E2-2998-FD7F-F634BA11124C}"/>
              </a:ext>
            </a:extLst>
          </p:cNvPr>
          <p:cNvSpPr txBox="1"/>
          <p:nvPr/>
        </p:nvSpPr>
        <p:spPr>
          <a:xfrm>
            <a:off x="3153754" y="1128855"/>
            <a:ext cx="11980492" cy="10259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000"/>
              </a:lnSpc>
            </a:pPr>
            <a:r>
              <a:rPr lang="en-US" sz="8000" b="1" spc="160" dirty="0">
                <a:solidFill>
                  <a:srgbClr val="4B548B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 RESULTS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C7F2F43-1ED3-86AC-AD0A-8E709A4076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133" y="2857500"/>
            <a:ext cx="8529431" cy="414791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D6C9689-6968-32E2-5AEF-A562054D3B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6353" y="2702865"/>
            <a:ext cx="8840647" cy="4323141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95B0A698-21DA-3D0F-D7A2-D72678BFFE51}"/>
              </a:ext>
            </a:extLst>
          </p:cNvPr>
          <p:cNvSpPr txBox="1"/>
          <p:nvPr/>
        </p:nvSpPr>
        <p:spPr>
          <a:xfrm>
            <a:off x="-284151" y="7308309"/>
            <a:ext cx="9767452" cy="3462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94311" lvl="1" algn="ctr">
              <a:lnSpc>
                <a:spcPts val="2700"/>
              </a:lnSpc>
            </a:pPr>
            <a:r>
              <a:rPr lang="en-US" sz="2400" b="1" spc="270" dirty="0">
                <a:solidFill>
                  <a:srgbClr val="22263E"/>
                </a:solidFill>
                <a:latin typeface="Inter"/>
                <a:ea typeface="Inter"/>
                <a:cs typeface="Inter"/>
                <a:sym typeface="Inter"/>
              </a:rPr>
              <a:t>Fig 3a: Angle of Attack at start position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897487C-8825-F04C-961E-067AD120C535}"/>
              </a:ext>
            </a:extLst>
          </p:cNvPr>
          <p:cNvSpPr txBox="1"/>
          <p:nvPr/>
        </p:nvSpPr>
        <p:spPr>
          <a:xfrm>
            <a:off x="9600313" y="7328714"/>
            <a:ext cx="7584540" cy="6924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94311" lvl="1" algn="ctr">
              <a:lnSpc>
                <a:spcPts val="2700"/>
              </a:lnSpc>
            </a:pPr>
            <a:r>
              <a:rPr lang="en-US" sz="2400" b="1" spc="270" dirty="0">
                <a:solidFill>
                  <a:srgbClr val="22263E"/>
                </a:solidFill>
                <a:latin typeface="Inter"/>
                <a:ea typeface="Inter"/>
                <a:cs typeface="Inter"/>
                <a:sym typeface="Inter"/>
              </a:rPr>
              <a:t>Fig 3b: Angle of Attack when turning left to avoid obstacle</a:t>
            </a:r>
          </a:p>
        </p:txBody>
      </p:sp>
    </p:spTree>
    <p:extLst>
      <p:ext uri="{BB962C8B-B14F-4D97-AF65-F5344CB8AC3E}">
        <p14:creationId xmlns:p14="http://schemas.microsoft.com/office/powerpoint/2010/main" val="14146536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EF7CFF-0F0E-23D3-B491-9D18DA264D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57EC5B6C-F5DE-0342-043A-D4A4EC630D74}"/>
              </a:ext>
            </a:extLst>
          </p:cNvPr>
          <p:cNvGrpSpPr/>
          <p:nvPr/>
        </p:nvGrpSpPr>
        <p:grpSpPr>
          <a:xfrm rot="-2211212">
            <a:off x="-2305505" y="-1443650"/>
            <a:ext cx="4019963" cy="4493189"/>
            <a:chOff x="0" y="0"/>
            <a:chExt cx="981327" cy="109684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B3F93CC9-4AF6-960B-B67D-CA1B34360E86}"/>
                </a:ext>
              </a:extLst>
            </p:cNvPr>
            <p:cNvSpPr/>
            <p:nvPr/>
          </p:nvSpPr>
          <p:spPr>
            <a:xfrm>
              <a:off x="0" y="0"/>
              <a:ext cx="981327" cy="1096848"/>
            </a:xfrm>
            <a:custGeom>
              <a:avLst/>
              <a:gdLst/>
              <a:ahLst/>
              <a:cxnLst/>
              <a:rect l="l" t="t" r="r" b="b"/>
              <a:pathLst>
                <a:path w="981327" h="1096848">
                  <a:moveTo>
                    <a:pt x="115552" y="0"/>
                  </a:moveTo>
                  <a:lnTo>
                    <a:pt x="865775" y="0"/>
                  </a:lnTo>
                  <a:cubicBezTo>
                    <a:pt x="896421" y="0"/>
                    <a:pt x="925812" y="12174"/>
                    <a:pt x="947482" y="33844"/>
                  </a:cubicBezTo>
                  <a:cubicBezTo>
                    <a:pt x="969153" y="55515"/>
                    <a:pt x="981327" y="84906"/>
                    <a:pt x="981327" y="115552"/>
                  </a:cubicBezTo>
                  <a:lnTo>
                    <a:pt x="981327" y="981296"/>
                  </a:lnTo>
                  <a:cubicBezTo>
                    <a:pt x="981327" y="1011942"/>
                    <a:pt x="969153" y="1041333"/>
                    <a:pt x="947482" y="1063004"/>
                  </a:cubicBezTo>
                  <a:cubicBezTo>
                    <a:pt x="925812" y="1084674"/>
                    <a:pt x="896421" y="1096848"/>
                    <a:pt x="865775" y="1096848"/>
                  </a:cubicBezTo>
                  <a:lnTo>
                    <a:pt x="115552" y="1096848"/>
                  </a:lnTo>
                  <a:cubicBezTo>
                    <a:pt x="84906" y="1096848"/>
                    <a:pt x="55515" y="1084674"/>
                    <a:pt x="33844" y="1063004"/>
                  </a:cubicBezTo>
                  <a:cubicBezTo>
                    <a:pt x="12174" y="1041333"/>
                    <a:pt x="0" y="1011942"/>
                    <a:pt x="0" y="981296"/>
                  </a:cubicBezTo>
                  <a:lnTo>
                    <a:pt x="0" y="115552"/>
                  </a:lnTo>
                  <a:cubicBezTo>
                    <a:pt x="0" y="84906"/>
                    <a:pt x="12174" y="55515"/>
                    <a:pt x="33844" y="33844"/>
                  </a:cubicBezTo>
                  <a:cubicBezTo>
                    <a:pt x="55515" y="12174"/>
                    <a:pt x="84906" y="0"/>
                    <a:pt x="11555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9FA5C8">
                    <a:alpha val="100000"/>
                  </a:srgbClr>
                </a:gs>
                <a:gs pos="100000">
                  <a:srgbClr val="9FA5C8">
                    <a:alpha val="0"/>
                  </a:srgbClr>
                </a:gs>
              </a:gsLst>
              <a:lin ang="0"/>
            </a:gradFill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1FAC2230-AE29-DFB9-78E9-FF867DC34FC2}"/>
                </a:ext>
              </a:extLst>
            </p:cNvPr>
            <p:cNvSpPr txBox="1"/>
            <p:nvPr/>
          </p:nvSpPr>
          <p:spPr>
            <a:xfrm>
              <a:off x="0" y="-47625"/>
              <a:ext cx="981327" cy="11444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5924FF90-8C4D-5C5A-99D4-6BDB41A4B6D5}"/>
              </a:ext>
            </a:extLst>
          </p:cNvPr>
          <p:cNvGrpSpPr/>
          <p:nvPr/>
        </p:nvGrpSpPr>
        <p:grpSpPr>
          <a:xfrm rot="-2211212">
            <a:off x="-1449957" y="-3920233"/>
            <a:ext cx="6950422" cy="4493189"/>
            <a:chOff x="0" y="0"/>
            <a:chExt cx="1696691" cy="1096848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970524EC-7803-61E5-BAF2-3E723339DB09}"/>
                </a:ext>
              </a:extLst>
            </p:cNvPr>
            <p:cNvSpPr/>
            <p:nvPr/>
          </p:nvSpPr>
          <p:spPr>
            <a:xfrm>
              <a:off x="0" y="0"/>
              <a:ext cx="1696691" cy="1096848"/>
            </a:xfrm>
            <a:custGeom>
              <a:avLst/>
              <a:gdLst/>
              <a:ahLst/>
              <a:cxnLst/>
              <a:rect l="l" t="t" r="r" b="b"/>
              <a:pathLst>
                <a:path w="1696691" h="1096848">
                  <a:moveTo>
                    <a:pt x="66833" y="0"/>
                  </a:moveTo>
                  <a:lnTo>
                    <a:pt x="1629859" y="0"/>
                  </a:lnTo>
                  <a:cubicBezTo>
                    <a:pt x="1647584" y="0"/>
                    <a:pt x="1664583" y="7041"/>
                    <a:pt x="1677117" y="19575"/>
                  </a:cubicBezTo>
                  <a:cubicBezTo>
                    <a:pt x="1689650" y="32108"/>
                    <a:pt x="1696691" y="49108"/>
                    <a:pt x="1696691" y="66833"/>
                  </a:cubicBezTo>
                  <a:lnTo>
                    <a:pt x="1696691" y="1030015"/>
                  </a:lnTo>
                  <a:cubicBezTo>
                    <a:pt x="1696691" y="1047740"/>
                    <a:pt x="1689650" y="1064740"/>
                    <a:pt x="1677117" y="1077273"/>
                  </a:cubicBezTo>
                  <a:cubicBezTo>
                    <a:pt x="1664583" y="1089807"/>
                    <a:pt x="1647584" y="1096848"/>
                    <a:pt x="1629859" y="1096848"/>
                  </a:cubicBezTo>
                  <a:lnTo>
                    <a:pt x="66833" y="1096848"/>
                  </a:lnTo>
                  <a:cubicBezTo>
                    <a:pt x="49108" y="1096848"/>
                    <a:pt x="32108" y="1089807"/>
                    <a:pt x="19575" y="1077273"/>
                  </a:cubicBezTo>
                  <a:cubicBezTo>
                    <a:pt x="7041" y="1064740"/>
                    <a:pt x="0" y="1047740"/>
                    <a:pt x="0" y="1030015"/>
                  </a:cubicBezTo>
                  <a:lnTo>
                    <a:pt x="0" y="66833"/>
                  </a:lnTo>
                  <a:cubicBezTo>
                    <a:pt x="0" y="49108"/>
                    <a:pt x="7041" y="32108"/>
                    <a:pt x="19575" y="19575"/>
                  </a:cubicBezTo>
                  <a:cubicBezTo>
                    <a:pt x="32108" y="7041"/>
                    <a:pt x="49108" y="0"/>
                    <a:pt x="66833" y="0"/>
                  </a:cubicBezTo>
                  <a:close/>
                </a:path>
              </a:pathLst>
            </a:custGeom>
            <a:solidFill>
              <a:srgbClr val="323B60"/>
            </a:solidFill>
          </p:spPr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295AD164-340E-5D62-9B41-292027E474A4}"/>
                </a:ext>
              </a:extLst>
            </p:cNvPr>
            <p:cNvSpPr txBox="1"/>
            <p:nvPr/>
          </p:nvSpPr>
          <p:spPr>
            <a:xfrm>
              <a:off x="0" y="-47625"/>
              <a:ext cx="1696691" cy="11444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D79C87E4-00F6-4365-8132-781AB3AC2F54}"/>
              </a:ext>
            </a:extLst>
          </p:cNvPr>
          <p:cNvGrpSpPr/>
          <p:nvPr/>
        </p:nvGrpSpPr>
        <p:grpSpPr>
          <a:xfrm rot="-2211212">
            <a:off x="13784089" y="8980678"/>
            <a:ext cx="6950422" cy="4493189"/>
            <a:chOff x="0" y="0"/>
            <a:chExt cx="1696691" cy="1096848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0D8A70AC-64B9-46FF-E605-B49223701A1F}"/>
                </a:ext>
              </a:extLst>
            </p:cNvPr>
            <p:cNvSpPr/>
            <p:nvPr/>
          </p:nvSpPr>
          <p:spPr>
            <a:xfrm>
              <a:off x="0" y="0"/>
              <a:ext cx="1696691" cy="1096848"/>
            </a:xfrm>
            <a:custGeom>
              <a:avLst/>
              <a:gdLst/>
              <a:ahLst/>
              <a:cxnLst/>
              <a:rect l="l" t="t" r="r" b="b"/>
              <a:pathLst>
                <a:path w="1696691" h="1096848">
                  <a:moveTo>
                    <a:pt x="66833" y="0"/>
                  </a:moveTo>
                  <a:lnTo>
                    <a:pt x="1629859" y="0"/>
                  </a:lnTo>
                  <a:cubicBezTo>
                    <a:pt x="1647584" y="0"/>
                    <a:pt x="1664583" y="7041"/>
                    <a:pt x="1677117" y="19575"/>
                  </a:cubicBezTo>
                  <a:cubicBezTo>
                    <a:pt x="1689650" y="32108"/>
                    <a:pt x="1696691" y="49108"/>
                    <a:pt x="1696691" y="66833"/>
                  </a:cubicBezTo>
                  <a:lnTo>
                    <a:pt x="1696691" y="1030015"/>
                  </a:lnTo>
                  <a:cubicBezTo>
                    <a:pt x="1696691" y="1047740"/>
                    <a:pt x="1689650" y="1064740"/>
                    <a:pt x="1677117" y="1077273"/>
                  </a:cubicBezTo>
                  <a:cubicBezTo>
                    <a:pt x="1664583" y="1089807"/>
                    <a:pt x="1647584" y="1096848"/>
                    <a:pt x="1629859" y="1096848"/>
                  </a:cubicBezTo>
                  <a:lnTo>
                    <a:pt x="66833" y="1096848"/>
                  </a:lnTo>
                  <a:cubicBezTo>
                    <a:pt x="49108" y="1096848"/>
                    <a:pt x="32108" y="1089807"/>
                    <a:pt x="19575" y="1077273"/>
                  </a:cubicBezTo>
                  <a:cubicBezTo>
                    <a:pt x="7041" y="1064740"/>
                    <a:pt x="0" y="1047740"/>
                    <a:pt x="0" y="1030015"/>
                  </a:cubicBezTo>
                  <a:lnTo>
                    <a:pt x="0" y="66833"/>
                  </a:lnTo>
                  <a:cubicBezTo>
                    <a:pt x="0" y="49108"/>
                    <a:pt x="7041" y="32108"/>
                    <a:pt x="19575" y="19575"/>
                  </a:cubicBezTo>
                  <a:cubicBezTo>
                    <a:pt x="32108" y="7041"/>
                    <a:pt x="49108" y="0"/>
                    <a:pt x="66833" y="0"/>
                  </a:cubicBezTo>
                  <a:close/>
                </a:path>
              </a:pathLst>
            </a:custGeom>
            <a:solidFill>
              <a:srgbClr val="323B60"/>
            </a:solidFill>
          </p:spPr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A236BF5C-1F93-F832-A368-6D4B89AA1A1A}"/>
                </a:ext>
              </a:extLst>
            </p:cNvPr>
            <p:cNvSpPr txBox="1"/>
            <p:nvPr/>
          </p:nvSpPr>
          <p:spPr>
            <a:xfrm>
              <a:off x="0" y="-47625"/>
              <a:ext cx="1696691" cy="11444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11" name="TextBox 11">
            <a:extLst>
              <a:ext uri="{FF2B5EF4-FFF2-40B4-BE49-F238E27FC236}">
                <a16:creationId xmlns:a16="http://schemas.microsoft.com/office/drawing/2014/main" id="{AC7A4C5A-F6F3-CFFF-5779-0B7520711339}"/>
              </a:ext>
            </a:extLst>
          </p:cNvPr>
          <p:cNvSpPr txBox="1"/>
          <p:nvPr/>
        </p:nvSpPr>
        <p:spPr>
          <a:xfrm>
            <a:off x="3153754" y="1128855"/>
            <a:ext cx="11980492" cy="10259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000"/>
              </a:lnSpc>
            </a:pPr>
            <a:r>
              <a:rPr lang="en-US" sz="8000" b="1" spc="160" dirty="0">
                <a:solidFill>
                  <a:srgbClr val="4B548B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 RESULTS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6A96956-25D5-EC1B-3CD1-0A1603206722}"/>
              </a:ext>
            </a:extLst>
          </p:cNvPr>
          <p:cNvSpPr txBox="1"/>
          <p:nvPr/>
        </p:nvSpPr>
        <p:spPr>
          <a:xfrm>
            <a:off x="807305" y="7161521"/>
            <a:ext cx="7584540" cy="6924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94311" lvl="1" algn="ctr">
              <a:lnSpc>
                <a:spcPts val="2700"/>
              </a:lnSpc>
            </a:pPr>
            <a:r>
              <a:rPr lang="en-US" sz="2400" b="1" spc="270" dirty="0">
                <a:solidFill>
                  <a:srgbClr val="22263E"/>
                </a:solidFill>
                <a:latin typeface="Inter"/>
                <a:ea typeface="Inter"/>
                <a:cs typeface="Inter"/>
                <a:sym typeface="Inter"/>
              </a:rPr>
              <a:t>Fig 3c: Angle of Attack when Turning Right to come Back to Track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BC0C597-EC9D-1830-4F17-CB962114674D}"/>
              </a:ext>
            </a:extLst>
          </p:cNvPr>
          <p:cNvSpPr txBox="1"/>
          <p:nvPr/>
        </p:nvSpPr>
        <p:spPr>
          <a:xfrm>
            <a:off x="9600313" y="7328714"/>
            <a:ext cx="7584540" cy="6924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94311" lvl="1" algn="ctr">
              <a:lnSpc>
                <a:spcPts val="2700"/>
              </a:lnSpc>
            </a:pPr>
            <a:r>
              <a:rPr lang="en-US" sz="2400" b="1" spc="270" dirty="0">
                <a:solidFill>
                  <a:srgbClr val="22263E"/>
                </a:solidFill>
                <a:latin typeface="Inter"/>
                <a:ea typeface="Inter"/>
                <a:cs typeface="Inter"/>
                <a:sym typeface="Inter"/>
              </a:rPr>
              <a:t>Fig 3d: Angle of Attack when back on Lane Following Stage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EDF6696-EC95-D7ED-C003-E963B6511E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776" y="2701717"/>
            <a:ext cx="8609598" cy="4187213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65B3E865-4F3A-9AEC-22AD-FED6AC13E0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00057" y="2637044"/>
            <a:ext cx="8885206" cy="4342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69915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2211212">
            <a:off x="-2305505" y="-1443650"/>
            <a:ext cx="4019963" cy="4493189"/>
            <a:chOff x="0" y="0"/>
            <a:chExt cx="981327" cy="109684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81327" cy="1096848"/>
            </a:xfrm>
            <a:custGeom>
              <a:avLst/>
              <a:gdLst/>
              <a:ahLst/>
              <a:cxnLst/>
              <a:rect l="l" t="t" r="r" b="b"/>
              <a:pathLst>
                <a:path w="981327" h="1096848">
                  <a:moveTo>
                    <a:pt x="115552" y="0"/>
                  </a:moveTo>
                  <a:lnTo>
                    <a:pt x="865775" y="0"/>
                  </a:lnTo>
                  <a:cubicBezTo>
                    <a:pt x="896421" y="0"/>
                    <a:pt x="925812" y="12174"/>
                    <a:pt x="947482" y="33844"/>
                  </a:cubicBezTo>
                  <a:cubicBezTo>
                    <a:pt x="969153" y="55515"/>
                    <a:pt x="981327" y="84906"/>
                    <a:pt x="981327" y="115552"/>
                  </a:cubicBezTo>
                  <a:lnTo>
                    <a:pt x="981327" y="981296"/>
                  </a:lnTo>
                  <a:cubicBezTo>
                    <a:pt x="981327" y="1011942"/>
                    <a:pt x="969153" y="1041333"/>
                    <a:pt x="947482" y="1063004"/>
                  </a:cubicBezTo>
                  <a:cubicBezTo>
                    <a:pt x="925812" y="1084674"/>
                    <a:pt x="896421" y="1096848"/>
                    <a:pt x="865775" y="1096848"/>
                  </a:cubicBezTo>
                  <a:lnTo>
                    <a:pt x="115552" y="1096848"/>
                  </a:lnTo>
                  <a:cubicBezTo>
                    <a:pt x="84906" y="1096848"/>
                    <a:pt x="55515" y="1084674"/>
                    <a:pt x="33844" y="1063004"/>
                  </a:cubicBezTo>
                  <a:cubicBezTo>
                    <a:pt x="12174" y="1041333"/>
                    <a:pt x="0" y="1011942"/>
                    <a:pt x="0" y="981296"/>
                  </a:cubicBezTo>
                  <a:lnTo>
                    <a:pt x="0" y="115552"/>
                  </a:lnTo>
                  <a:cubicBezTo>
                    <a:pt x="0" y="84906"/>
                    <a:pt x="12174" y="55515"/>
                    <a:pt x="33844" y="33844"/>
                  </a:cubicBezTo>
                  <a:cubicBezTo>
                    <a:pt x="55515" y="12174"/>
                    <a:pt x="84906" y="0"/>
                    <a:pt x="11555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9FA5C8">
                    <a:alpha val="100000"/>
                  </a:srgbClr>
                </a:gs>
                <a:gs pos="100000">
                  <a:srgbClr val="9FA5C8">
                    <a:alpha val="0"/>
                  </a:srgbClr>
                </a:gs>
              </a:gsLst>
              <a:lin ang="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981327" cy="11444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-2211212">
            <a:off x="-1449957" y="-3920233"/>
            <a:ext cx="6950422" cy="4493189"/>
            <a:chOff x="0" y="0"/>
            <a:chExt cx="1696691" cy="109684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696691" cy="1096848"/>
            </a:xfrm>
            <a:custGeom>
              <a:avLst/>
              <a:gdLst/>
              <a:ahLst/>
              <a:cxnLst/>
              <a:rect l="l" t="t" r="r" b="b"/>
              <a:pathLst>
                <a:path w="1696691" h="1096848">
                  <a:moveTo>
                    <a:pt x="66833" y="0"/>
                  </a:moveTo>
                  <a:lnTo>
                    <a:pt x="1629859" y="0"/>
                  </a:lnTo>
                  <a:cubicBezTo>
                    <a:pt x="1647584" y="0"/>
                    <a:pt x="1664583" y="7041"/>
                    <a:pt x="1677117" y="19575"/>
                  </a:cubicBezTo>
                  <a:cubicBezTo>
                    <a:pt x="1689650" y="32108"/>
                    <a:pt x="1696691" y="49108"/>
                    <a:pt x="1696691" y="66833"/>
                  </a:cubicBezTo>
                  <a:lnTo>
                    <a:pt x="1696691" y="1030015"/>
                  </a:lnTo>
                  <a:cubicBezTo>
                    <a:pt x="1696691" y="1047740"/>
                    <a:pt x="1689650" y="1064740"/>
                    <a:pt x="1677117" y="1077273"/>
                  </a:cubicBezTo>
                  <a:cubicBezTo>
                    <a:pt x="1664583" y="1089807"/>
                    <a:pt x="1647584" y="1096848"/>
                    <a:pt x="1629859" y="1096848"/>
                  </a:cubicBezTo>
                  <a:lnTo>
                    <a:pt x="66833" y="1096848"/>
                  </a:lnTo>
                  <a:cubicBezTo>
                    <a:pt x="49108" y="1096848"/>
                    <a:pt x="32108" y="1089807"/>
                    <a:pt x="19575" y="1077273"/>
                  </a:cubicBezTo>
                  <a:cubicBezTo>
                    <a:pt x="7041" y="1064740"/>
                    <a:pt x="0" y="1047740"/>
                    <a:pt x="0" y="1030015"/>
                  </a:cubicBezTo>
                  <a:lnTo>
                    <a:pt x="0" y="66833"/>
                  </a:lnTo>
                  <a:cubicBezTo>
                    <a:pt x="0" y="49108"/>
                    <a:pt x="7041" y="32108"/>
                    <a:pt x="19575" y="19575"/>
                  </a:cubicBezTo>
                  <a:cubicBezTo>
                    <a:pt x="32108" y="7041"/>
                    <a:pt x="49108" y="0"/>
                    <a:pt x="66833" y="0"/>
                  </a:cubicBezTo>
                  <a:close/>
                </a:path>
              </a:pathLst>
            </a:custGeom>
            <a:solidFill>
              <a:srgbClr val="323B6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1696691" cy="11444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 rot="-2211212">
            <a:off x="13784089" y="8980678"/>
            <a:ext cx="6950422" cy="4493189"/>
            <a:chOff x="0" y="0"/>
            <a:chExt cx="1696691" cy="109684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696691" cy="1096848"/>
            </a:xfrm>
            <a:custGeom>
              <a:avLst/>
              <a:gdLst/>
              <a:ahLst/>
              <a:cxnLst/>
              <a:rect l="l" t="t" r="r" b="b"/>
              <a:pathLst>
                <a:path w="1696691" h="1096848">
                  <a:moveTo>
                    <a:pt x="66833" y="0"/>
                  </a:moveTo>
                  <a:lnTo>
                    <a:pt x="1629859" y="0"/>
                  </a:lnTo>
                  <a:cubicBezTo>
                    <a:pt x="1647584" y="0"/>
                    <a:pt x="1664583" y="7041"/>
                    <a:pt x="1677117" y="19575"/>
                  </a:cubicBezTo>
                  <a:cubicBezTo>
                    <a:pt x="1689650" y="32108"/>
                    <a:pt x="1696691" y="49108"/>
                    <a:pt x="1696691" y="66833"/>
                  </a:cubicBezTo>
                  <a:lnTo>
                    <a:pt x="1696691" y="1030015"/>
                  </a:lnTo>
                  <a:cubicBezTo>
                    <a:pt x="1696691" y="1047740"/>
                    <a:pt x="1689650" y="1064740"/>
                    <a:pt x="1677117" y="1077273"/>
                  </a:cubicBezTo>
                  <a:cubicBezTo>
                    <a:pt x="1664583" y="1089807"/>
                    <a:pt x="1647584" y="1096848"/>
                    <a:pt x="1629859" y="1096848"/>
                  </a:cubicBezTo>
                  <a:lnTo>
                    <a:pt x="66833" y="1096848"/>
                  </a:lnTo>
                  <a:cubicBezTo>
                    <a:pt x="49108" y="1096848"/>
                    <a:pt x="32108" y="1089807"/>
                    <a:pt x="19575" y="1077273"/>
                  </a:cubicBezTo>
                  <a:cubicBezTo>
                    <a:pt x="7041" y="1064740"/>
                    <a:pt x="0" y="1047740"/>
                    <a:pt x="0" y="1030015"/>
                  </a:cubicBezTo>
                  <a:lnTo>
                    <a:pt x="0" y="66833"/>
                  </a:lnTo>
                  <a:cubicBezTo>
                    <a:pt x="0" y="49108"/>
                    <a:pt x="7041" y="32108"/>
                    <a:pt x="19575" y="19575"/>
                  </a:cubicBezTo>
                  <a:cubicBezTo>
                    <a:pt x="32108" y="7041"/>
                    <a:pt x="49108" y="0"/>
                    <a:pt x="66833" y="0"/>
                  </a:cubicBezTo>
                  <a:close/>
                </a:path>
              </a:pathLst>
            </a:custGeom>
            <a:solidFill>
              <a:srgbClr val="323B60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1696691" cy="11444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2136125" y="3376079"/>
            <a:ext cx="1571485" cy="1325941"/>
          </a:xfrm>
          <a:custGeom>
            <a:avLst/>
            <a:gdLst/>
            <a:ahLst/>
            <a:cxnLst/>
            <a:rect l="l" t="t" r="r" b="b"/>
            <a:pathLst>
              <a:path w="1571485" h="1325941">
                <a:moveTo>
                  <a:pt x="0" y="0"/>
                </a:moveTo>
                <a:lnTo>
                  <a:pt x="1571485" y="0"/>
                </a:lnTo>
                <a:lnTo>
                  <a:pt x="1571485" y="1325941"/>
                </a:lnTo>
                <a:lnTo>
                  <a:pt x="0" y="13259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2598210" y="3527337"/>
            <a:ext cx="647316" cy="1023425"/>
          </a:xfrm>
          <a:custGeom>
            <a:avLst/>
            <a:gdLst/>
            <a:ahLst/>
            <a:cxnLst/>
            <a:rect l="l" t="t" r="r" b="b"/>
            <a:pathLst>
              <a:path w="647316" h="1023425">
                <a:moveTo>
                  <a:pt x="0" y="0"/>
                </a:moveTo>
                <a:lnTo>
                  <a:pt x="647316" y="0"/>
                </a:lnTo>
                <a:lnTo>
                  <a:pt x="647316" y="1023425"/>
                </a:lnTo>
                <a:lnTo>
                  <a:pt x="0" y="10234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13" name="Group 13"/>
          <p:cNvGrpSpPr/>
          <p:nvPr/>
        </p:nvGrpSpPr>
        <p:grpSpPr>
          <a:xfrm>
            <a:off x="8612105" y="2847765"/>
            <a:ext cx="1063790" cy="1916739"/>
            <a:chOff x="0" y="0"/>
            <a:chExt cx="1418387" cy="2555651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418387" cy="2555651"/>
            </a:xfrm>
            <a:custGeom>
              <a:avLst/>
              <a:gdLst/>
              <a:ahLst/>
              <a:cxnLst/>
              <a:rect l="l" t="t" r="r" b="b"/>
              <a:pathLst>
                <a:path w="1418387" h="2555651">
                  <a:moveTo>
                    <a:pt x="0" y="0"/>
                  </a:moveTo>
                  <a:lnTo>
                    <a:pt x="1418387" y="0"/>
                  </a:lnTo>
                  <a:lnTo>
                    <a:pt x="1418387" y="2555651"/>
                  </a:lnTo>
                  <a:lnTo>
                    <a:pt x="0" y="25556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5" name="Freeform 15"/>
            <p:cNvSpPr/>
            <p:nvPr/>
          </p:nvSpPr>
          <p:spPr>
            <a:xfrm>
              <a:off x="311997" y="519455"/>
              <a:ext cx="794393" cy="1516741"/>
            </a:xfrm>
            <a:custGeom>
              <a:avLst/>
              <a:gdLst/>
              <a:ahLst/>
              <a:cxnLst/>
              <a:rect l="l" t="t" r="r" b="b"/>
              <a:pathLst>
                <a:path w="794393" h="1516741">
                  <a:moveTo>
                    <a:pt x="0" y="0"/>
                  </a:moveTo>
                  <a:lnTo>
                    <a:pt x="794393" y="0"/>
                  </a:lnTo>
                  <a:lnTo>
                    <a:pt x="794393" y="1516741"/>
                  </a:lnTo>
                  <a:lnTo>
                    <a:pt x="0" y="1516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</p:grpSp>
      <p:sp>
        <p:nvSpPr>
          <p:cNvPr id="16" name="Freeform 16"/>
          <p:cNvSpPr/>
          <p:nvPr/>
        </p:nvSpPr>
        <p:spPr>
          <a:xfrm>
            <a:off x="13947502" y="3986918"/>
            <a:ext cx="2373488" cy="765450"/>
          </a:xfrm>
          <a:custGeom>
            <a:avLst/>
            <a:gdLst/>
            <a:ahLst/>
            <a:cxnLst/>
            <a:rect l="l" t="t" r="r" b="b"/>
            <a:pathLst>
              <a:path w="2373488" h="765450">
                <a:moveTo>
                  <a:pt x="0" y="0"/>
                </a:moveTo>
                <a:lnTo>
                  <a:pt x="2373488" y="0"/>
                </a:lnTo>
                <a:lnTo>
                  <a:pt x="2373488" y="765449"/>
                </a:lnTo>
                <a:lnTo>
                  <a:pt x="0" y="76544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15952727" y="3381701"/>
            <a:ext cx="736524" cy="657348"/>
          </a:xfrm>
          <a:custGeom>
            <a:avLst/>
            <a:gdLst/>
            <a:ahLst/>
            <a:cxnLst/>
            <a:rect l="l" t="t" r="r" b="b"/>
            <a:pathLst>
              <a:path w="736524" h="657348">
                <a:moveTo>
                  <a:pt x="0" y="0"/>
                </a:moveTo>
                <a:lnTo>
                  <a:pt x="736525" y="0"/>
                </a:lnTo>
                <a:lnTo>
                  <a:pt x="736525" y="657348"/>
                </a:lnTo>
                <a:lnTo>
                  <a:pt x="0" y="65734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3153754" y="1128855"/>
            <a:ext cx="11980492" cy="10795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000"/>
              </a:lnSpc>
            </a:pPr>
            <a:r>
              <a:rPr lang="en-US" sz="8000" b="1" spc="160">
                <a:solidFill>
                  <a:srgbClr val="4B548B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CHALLENGES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18195" y="5017052"/>
            <a:ext cx="4607345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79"/>
              </a:lnSpc>
            </a:pPr>
            <a:r>
              <a:rPr lang="en-US" sz="2400" b="1" spc="240">
                <a:solidFill>
                  <a:srgbClr val="4B548B"/>
                </a:solidFill>
                <a:latin typeface="Inter Bold"/>
                <a:ea typeface="Inter Bold"/>
                <a:cs typeface="Inter Bold"/>
                <a:sym typeface="Inter Bold"/>
              </a:rPr>
              <a:t>LANE DETECTION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18195" y="5636885"/>
            <a:ext cx="4607345" cy="20459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88623" lvl="1" indent="-194312" algn="l">
              <a:lnSpc>
                <a:spcPts val="2700"/>
              </a:lnSpc>
              <a:buFont typeface="Arial"/>
              <a:buChar char="•"/>
            </a:pPr>
            <a:r>
              <a:rPr lang="en-US" sz="1800" spc="270">
                <a:solidFill>
                  <a:srgbClr val="22263E"/>
                </a:solidFill>
                <a:latin typeface="Inter"/>
                <a:ea typeface="Inter"/>
                <a:cs typeface="Inter"/>
                <a:sym typeface="Inter"/>
              </a:rPr>
              <a:t>Hard to tune Hough transform for stable lane lines</a:t>
            </a:r>
          </a:p>
          <a:p>
            <a:pPr marL="388623" lvl="1" indent="-194312" algn="l">
              <a:lnSpc>
                <a:spcPts val="2700"/>
              </a:lnSpc>
              <a:buFont typeface="Arial"/>
              <a:buChar char="•"/>
            </a:pPr>
            <a:r>
              <a:rPr lang="en-US" sz="1800" spc="270">
                <a:solidFill>
                  <a:srgbClr val="22263E"/>
                </a:solidFill>
                <a:latin typeface="Inter"/>
                <a:ea typeface="Inter"/>
                <a:cs typeface="Inter"/>
                <a:sym typeface="Inter"/>
              </a:rPr>
              <a:t>Cropped image size too small which missed lane features</a:t>
            </a:r>
          </a:p>
          <a:p>
            <a:pPr marL="388623" lvl="1" indent="-194312" algn="l">
              <a:lnSpc>
                <a:spcPts val="2700"/>
              </a:lnSpc>
              <a:buFont typeface="Arial"/>
              <a:buChar char="•"/>
            </a:pPr>
            <a:r>
              <a:rPr lang="en-US" sz="1800" spc="270">
                <a:solidFill>
                  <a:srgbClr val="22263E"/>
                </a:solidFill>
                <a:latin typeface="Inter"/>
                <a:ea typeface="Inter"/>
                <a:cs typeface="Inter"/>
                <a:sym typeface="Inter"/>
              </a:rPr>
              <a:t>Difficult to mask yellow &amp; white lanes consistently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840328" y="5017052"/>
            <a:ext cx="4607345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79"/>
              </a:lnSpc>
            </a:pPr>
            <a:r>
              <a:rPr lang="en-US" sz="2400" b="1" spc="240">
                <a:solidFill>
                  <a:srgbClr val="4B548B"/>
                </a:solidFill>
                <a:latin typeface="Inter Bold"/>
                <a:ea typeface="Inter Bold"/>
                <a:cs typeface="Inter Bold"/>
                <a:sym typeface="Inter Bold"/>
              </a:rPr>
              <a:t>LANE KEEPING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840328" y="5636885"/>
            <a:ext cx="4607345" cy="17030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88623" lvl="1" indent="-194312" algn="l">
              <a:lnSpc>
                <a:spcPts val="2700"/>
              </a:lnSpc>
              <a:buFont typeface="Arial"/>
              <a:buChar char="•"/>
            </a:pPr>
            <a:r>
              <a:rPr lang="en-US" sz="1800" spc="270">
                <a:solidFill>
                  <a:srgbClr val="22263E"/>
                </a:solidFill>
                <a:latin typeface="Inter"/>
                <a:ea typeface="Inter"/>
                <a:cs typeface="Inter"/>
                <a:sym typeface="Inter"/>
              </a:rPr>
              <a:t>Filter node issues → lane pose not stable</a:t>
            </a:r>
          </a:p>
          <a:p>
            <a:pPr marL="388623" lvl="1" indent="-194312" algn="l">
              <a:lnSpc>
                <a:spcPts val="2700"/>
              </a:lnSpc>
              <a:buFont typeface="Arial"/>
              <a:buChar char="•"/>
            </a:pPr>
            <a:r>
              <a:rPr lang="en-US" sz="1800" spc="270">
                <a:solidFill>
                  <a:srgbClr val="22263E"/>
                </a:solidFill>
                <a:latin typeface="Inter"/>
                <a:ea typeface="Inter"/>
                <a:cs typeface="Inter"/>
                <a:sym typeface="Inter"/>
              </a:rPr>
              <a:t>PID tuning very sensitive. </a:t>
            </a:r>
          </a:p>
          <a:p>
            <a:pPr marL="388623" lvl="1" indent="-194312" algn="l">
              <a:lnSpc>
                <a:spcPts val="2700"/>
              </a:lnSpc>
              <a:buFont typeface="Arial"/>
              <a:buChar char="•"/>
            </a:pPr>
            <a:r>
              <a:rPr lang="en-US" sz="1800" spc="270">
                <a:solidFill>
                  <a:srgbClr val="22263E"/>
                </a:solidFill>
                <a:latin typeface="Inter"/>
                <a:ea typeface="Inter"/>
                <a:cs typeface="Inter"/>
                <a:sym typeface="Inter"/>
              </a:rPr>
              <a:t>Robot inconsistent: some laps perfect, some laps fail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2830574" y="5066692"/>
            <a:ext cx="4607345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79"/>
              </a:lnSpc>
            </a:pPr>
            <a:r>
              <a:rPr lang="en-US" sz="2400" b="1" spc="240">
                <a:solidFill>
                  <a:srgbClr val="4B548B"/>
                </a:solidFill>
                <a:latin typeface="Inter Bold"/>
                <a:ea typeface="Inter Bold"/>
                <a:cs typeface="Inter Bold"/>
                <a:sym typeface="Inter Bold"/>
              </a:rPr>
              <a:t>OBSTACLE AVOIDANCE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2830574" y="5686525"/>
            <a:ext cx="4607345" cy="23914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88623" lvl="1" indent="-194312" algn="l">
              <a:lnSpc>
                <a:spcPts val="2700"/>
              </a:lnSpc>
              <a:buFont typeface="Arial"/>
              <a:buChar char="•"/>
            </a:pPr>
            <a:r>
              <a:rPr lang="en-US" sz="1800" spc="270" dirty="0">
                <a:solidFill>
                  <a:srgbClr val="22263E"/>
                </a:solidFill>
                <a:latin typeface="Inter"/>
                <a:ea typeface="Inter"/>
                <a:cs typeface="Inter"/>
                <a:sym typeface="Inter"/>
              </a:rPr>
              <a:t>ToF sensor readings noisy and unreliable</a:t>
            </a:r>
          </a:p>
          <a:p>
            <a:pPr marL="388623" lvl="1" indent="-194312" algn="l">
              <a:lnSpc>
                <a:spcPts val="2700"/>
              </a:lnSpc>
              <a:buFont typeface="Arial"/>
              <a:buChar char="•"/>
            </a:pPr>
            <a:r>
              <a:rPr lang="en-US" spc="270" dirty="0">
                <a:solidFill>
                  <a:srgbClr val="22263E"/>
                </a:solidFill>
                <a:latin typeface="Inter"/>
                <a:ea typeface="Inter"/>
                <a:cs typeface="Inter"/>
                <a:sym typeface="Inter"/>
              </a:rPr>
              <a:t>Closed</a:t>
            </a:r>
            <a:r>
              <a:rPr lang="en-US" sz="1800" spc="270" dirty="0">
                <a:solidFill>
                  <a:srgbClr val="22263E"/>
                </a:solidFill>
                <a:latin typeface="Inter"/>
                <a:ea typeface="Inter"/>
                <a:cs typeface="Inter"/>
                <a:sym typeface="Inter"/>
              </a:rPr>
              <a:t>-loop avoidance failed → switched to </a:t>
            </a:r>
            <a:r>
              <a:rPr lang="en-US" spc="270" dirty="0">
                <a:solidFill>
                  <a:srgbClr val="22263E"/>
                </a:solidFill>
                <a:latin typeface="Inter"/>
                <a:ea typeface="Inter"/>
                <a:cs typeface="Inter"/>
                <a:sym typeface="Inter"/>
              </a:rPr>
              <a:t>open</a:t>
            </a:r>
            <a:r>
              <a:rPr lang="en-US" sz="1800" spc="270" dirty="0">
                <a:solidFill>
                  <a:srgbClr val="22263E"/>
                </a:solidFill>
                <a:latin typeface="Inter"/>
                <a:ea typeface="Inter"/>
                <a:cs typeface="Inter"/>
                <a:sym typeface="Inter"/>
              </a:rPr>
              <a:t>-loop PID</a:t>
            </a:r>
          </a:p>
          <a:p>
            <a:pPr marL="388623" lvl="1" indent="-194312" algn="l">
              <a:lnSpc>
                <a:spcPts val="2700"/>
              </a:lnSpc>
              <a:buFont typeface="Arial"/>
              <a:buChar char="•"/>
            </a:pPr>
            <a:r>
              <a:rPr lang="en-US" sz="1800" spc="270" dirty="0">
                <a:solidFill>
                  <a:srgbClr val="22263E"/>
                </a:solidFill>
                <a:latin typeface="Inter"/>
                <a:ea typeface="Inter"/>
                <a:cs typeface="Inter"/>
                <a:sym typeface="Inter"/>
              </a:rPr>
              <a:t>Integration of lane + detection + control nodes tricky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2211212">
            <a:off x="-2305505" y="-1443650"/>
            <a:ext cx="4019963" cy="4493189"/>
            <a:chOff x="0" y="0"/>
            <a:chExt cx="981327" cy="109684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81327" cy="1096848"/>
            </a:xfrm>
            <a:custGeom>
              <a:avLst/>
              <a:gdLst/>
              <a:ahLst/>
              <a:cxnLst/>
              <a:rect l="l" t="t" r="r" b="b"/>
              <a:pathLst>
                <a:path w="981327" h="1096848">
                  <a:moveTo>
                    <a:pt x="115552" y="0"/>
                  </a:moveTo>
                  <a:lnTo>
                    <a:pt x="865775" y="0"/>
                  </a:lnTo>
                  <a:cubicBezTo>
                    <a:pt x="896421" y="0"/>
                    <a:pt x="925812" y="12174"/>
                    <a:pt x="947482" y="33844"/>
                  </a:cubicBezTo>
                  <a:cubicBezTo>
                    <a:pt x="969153" y="55515"/>
                    <a:pt x="981327" y="84906"/>
                    <a:pt x="981327" y="115552"/>
                  </a:cubicBezTo>
                  <a:lnTo>
                    <a:pt x="981327" y="981296"/>
                  </a:lnTo>
                  <a:cubicBezTo>
                    <a:pt x="981327" y="1011942"/>
                    <a:pt x="969153" y="1041333"/>
                    <a:pt x="947482" y="1063004"/>
                  </a:cubicBezTo>
                  <a:cubicBezTo>
                    <a:pt x="925812" y="1084674"/>
                    <a:pt x="896421" y="1096848"/>
                    <a:pt x="865775" y="1096848"/>
                  </a:cubicBezTo>
                  <a:lnTo>
                    <a:pt x="115552" y="1096848"/>
                  </a:lnTo>
                  <a:cubicBezTo>
                    <a:pt x="84906" y="1096848"/>
                    <a:pt x="55515" y="1084674"/>
                    <a:pt x="33844" y="1063004"/>
                  </a:cubicBezTo>
                  <a:cubicBezTo>
                    <a:pt x="12174" y="1041333"/>
                    <a:pt x="0" y="1011942"/>
                    <a:pt x="0" y="981296"/>
                  </a:cubicBezTo>
                  <a:lnTo>
                    <a:pt x="0" y="115552"/>
                  </a:lnTo>
                  <a:cubicBezTo>
                    <a:pt x="0" y="84906"/>
                    <a:pt x="12174" y="55515"/>
                    <a:pt x="33844" y="33844"/>
                  </a:cubicBezTo>
                  <a:cubicBezTo>
                    <a:pt x="55515" y="12174"/>
                    <a:pt x="84906" y="0"/>
                    <a:pt x="11555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9FA5C8">
                    <a:alpha val="100000"/>
                  </a:srgbClr>
                </a:gs>
                <a:gs pos="100000">
                  <a:srgbClr val="9FA5C8">
                    <a:alpha val="0"/>
                  </a:srgbClr>
                </a:gs>
              </a:gsLst>
              <a:lin ang="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981327" cy="11444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-2211212">
            <a:off x="-1449957" y="-3920233"/>
            <a:ext cx="6950422" cy="4493189"/>
            <a:chOff x="0" y="0"/>
            <a:chExt cx="1696691" cy="109684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696691" cy="1096848"/>
            </a:xfrm>
            <a:custGeom>
              <a:avLst/>
              <a:gdLst/>
              <a:ahLst/>
              <a:cxnLst/>
              <a:rect l="l" t="t" r="r" b="b"/>
              <a:pathLst>
                <a:path w="1696691" h="1096848">
                  <a:moveTo>
                    <a:pt x="66833" y="0"/>
                  </a:moveTo>
                  <a:lnTo>
                    <a:pt x="1629859" y="0"/>
                  </a:lnTo>
                  <a:cubicBezTo>
                    <a:pt x="1647584" y="0"/>
                    <a:pt x="1664583" y="7041"/>
                    <a:pt x="1677117" y="19575"/>
                  </a:cubicBezTo>
                  <a:cubicBezTo>
                    <a:pt x="1689650" y="32108"/>
                    <a:pt x="1696691" y="49108"/>
                    <a:pt x="1696691" y="66833"/>
                  </a:cubicBezTo>
                  <a:lnTo>
                    <a:pt x="1696691" y="1030015"/>
                  </a:lnTo>
                  <a:cubicBezTo>
                    <a:pt x="1696691" y="1047740"/>
                    <a:pt x="1689650" y="1064740"/>
                    <a:pt x="1677117" y="1077273"/>
                  </a:cubicBezTo>
                  <a:cubicBezTo>
                    <a:pt x="1664583" y="1089807"/>
                    <a:pt x="1647584" y="1096848"/>
                    <a:pt x="1629859" y="1096848"/>
                  </a:cubicBezTo>
                  <a:lnTo>
                    <a:pt x="66833" y="1096848"/>
                  </a:lnTo>
                  <a:cubicBezTo>
                    <a:pt x="49108" y="1096848"/>
                    <a:pt x="32108" y="1089807"/>
                    <a:pt x="19575" y="1077273"/>
                  </a:cubicBezTo>
                  <a:cubicBezTo>
                    <a:pt x="7041" y="1064740"/>
                    <a:pt x="0" y="1047740"/>
                    <a:pt x="0" y="1030015"/>
                  </a:cubicBezTo>
                  <a:lnTo>
                    <a:pt x="0" y="66833"/>
                  </a:lnTo>
                  <a:cubicBezTo>
                    <a:pt x="0" y="49108"/>
                    <a:pt x="7041" y="32108"/>
                    <a:pt x="19575" y="19575"/>
                  </a:cubicBezTo>
                  <a:cubicBezTo>
                    <a:pt x="32108" y="7041"/>
                    <a:pt x="49108" y="0"/>
                    <a:pt x="66833" y="0"/>
                  </a:cubicBezTo>
                  <a:close/>
                </a:path>
              </a:pathLst>
            </a:custGeom>
            <a:solidFill>
              <a:srgbClr val="323B6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1696691" cy="11444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 rot="-2211212">
            <a:off x="13784089" y="8980678"/>
            <a:ext cx="6950422" cy="4493189"/>
            <a:chOff x="0" y="0"/>
            <a:chExt cx="1696691" cy="109684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696691" cy="1096848"/>
            </a:xfrm>
            <a:custGeom>
              <a:avLst/>
              <a:gdLst/>
              <a:ahLst/>
              <a:cxnLst/>
              <a:rect l="l" t="t" r="r" b="b"/>
              <a:pathLst>
                <a:path w="1696691" h="1096848">
                  <a:moveTo>
                    <a:pt x="66833" y="0"/>
                  </a:moveTo>
                  <a:lnTo>
                    <a:pt x="1629859" y="0"/>
                  </a:lnTo>
                  <a:cubicBezTo>
                    <a:pt x="1647584" y="0"/>
                    <a:pt x="1664583" y="7041"/>
                    <a:pt x="1677117" y="19575"/>
                  </a:cubicBezTo>
                  <a:cubicBezTo>
                    <a:pt x="1689650" y="32108"/>
                    <a:pt x="1696691" y="49108"/>
                    <a:pt x="1696691" y="66833"/>
                  </a:cubicBezTo>
                  <a:lnTo>
                    <a:pt x="1696691" y="1030015"/>
                  </a:lnTo>
                  <a:cubicBezTo>
                    <a:pt x="1696691" y="1047740"/>
                    <a:pt x="1689650" y="1064740"/>
                    <a:pt x="1677117" y="1077273"/>
                  </a:cubicBezTo>
                  <a:cubicBezTo>
                    <a:pt x="1664583" y="1089807"/>
                    <a:pt x="1647584" y="1096848"/>
                    <a:pt x="1629859" y="1096848"/>
                  </a:cubicBezTo>
                  <a:lnTo>
                    <a:pt x="66833" y="1096848"/>
                  </a:lnTo>
                  <a:cubicBezTo>
                    <a:pt x="49108" y="1096848"/>
                    <a:pt x="32108" y="1089807"/>
                    <a:pt x="19575" y="1077273"/>
                  </a:cubicBezTo>
                  <a:cubicBezTo>
                    <a:pt x="7041" y="1064740"/>
                    <a:pt x="0" y="1047740"/>
                    <a:pt x="0" y="1030015"/>
                  </a:cubicBezTo>
                  <a:lnTo>
                    <a:pt x="0" y="66833"/>
                  </a:lnTo>
                  <a:cubicBezTo>
                    <a:pt x="0" y="49108"/>
                    <a:pt x="7041" y="32108"/>
                    <a:pt x="19575" y="19575"/>
                  </a:cubicBezTo>
                  <a:cubicBezTo>
                    <a:pt x="32108" y="7041"/>
                    <a:pt x="49108" y="0"/>
                    <a:pt x="66833" y="0"/>
                  </a:cubicBezTo>
                  <a:close/>
                </a:path>
              </a:pathLst>
            </a:custGeom>
            <a:solidFill>
              <a:srgbClr val="323B60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1696691" cy="11444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3153754" y="1128855"/>
            <a:ext cx="11980492" cy="10259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000"/>
              </a:lnSpc>
            </a:pPr>
            <a:r>
              <a:rPr lang="en-US" sz="8000" b="1" spc="160" dirty="0">
                <a:solidFill>
                  <a:srgbClr val="4B548B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FUTURE SCOPE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D9505D4-3214-644C-1B3D-3B5338FCE70C}"/>
              </a:ext>
            </a:extLst>
          </p:cNvPr>
          <p:cNvSpPr txBox="1"/>
          <p:nvPr/>
        </p:nvSpPr>
        <p:spPr>
          <a:xfrm>
            <a:off x="1219200" y="2876134"/>
            <a:ext cx="14554200" cy="51937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51511" lvl="1" indent="-457200">
              <a:lnSpc>
                <a:spcPts val="2700"/>
              </a:lnSpc>
              <a:buAutoNum type="arabicPeriod"/>
            </a:pPr>
            <a:r>
              <a:rPr lang="en-US" sz="2800" b="1" spc="270" dirty="0">
                <a:solidFill>
                  <a:srgbClr val="22263E"/>
                </a:solidFill>
                <a:latin typeface="Inter"/>
                <a:ea typeface="Inter"/>
                <a:cs typeface="Inter"/>
                <a:sym typeface="Inter"/>
              </a:rPr>
              <a:t>Closed-Loop Obstacle Avoidance</a:t>
            </a:r>
          </a:p>
          <a:p>
            <a:pPr marL="194311" lvl="1">
              <a:lnSpc>
                <a:spcPts val="2700"/>
              </a:lnSpc>
            </a:pPr>
            <a:endParaRPr lang="en-US" sz="2800" b="1" spc="270" dirty="0">
              <a:solidFill>
                <a:srgbClr val="22263E"/>
              </a:solidFill>
              <a:latin typeface="Inter"/>
              <a:ea typeface="Inter"/>
              <a:cs typeface="Inter"/>
              <a:sym typeface="Inter"/>
            </a:endParaRPr>
          </a:p>
          <a:p>
            <a:pPr marL="994411" lvl="2" indent="-342900">
              <a:lnSpc>
                <a:spcPts val="2700"/>
              </a:lnSpc>
              <a:buFont typeface="Arial" panose="020B0604020202020204" pitchFamily="34" charset="0"/>
              <a:buChar char="•"/>
            </a:pPr>
            <a:r>
              <a:rPr lang="en-US" sz="2400" b="1" spc="270" dirty="0">
                <a:solidFill>
                  <a:srgbClr val="22263E"/>
                </a:solidFill>
                <a:latin typeface="Inter"/>
                <a:ea typeface="Inter"/>
                <a:cs typeface="Inter"/>
                <a:sym typeface="Inter"/>
              </a:rPr>
              <a:t>Replace time-based turning with sensor-feedback-based control.</a:t>
            </a:r>
          </a:p>
          <a:p>
            <a:pPr marL="994411" lvl="2" indent="-342900">
              <a:lnSpc>
                <a:spcPts val="2700"/>
              </a:lnSpc>
              <a:buFont typeface="Arial" panose="020B0604020202020204" pitchFamily="34" charset="0"/>
              <a:buChar char="•"/>
            </a:pPr>
            <a:r>
              <a:rPr lang="en-US" sz="2400" b="1" spc="270" dirty="0">
                <a:solidFill>
                  <a:srgbClr val="22263E"/>
                </a:solidFill>
                <a:latin typeface="Inter"/>
                <a:ea typeface="Inter"/>
                <a:cs typeface="Inter"/>
                <a:sym typeface="Inter"/>
              </a:rPr>
              <a:t>Lane pose for realignment.</a:t>
            </a:r>
          </a:p>
          <a:p>
            <a:pPr marL="994411" lvl="2" indent="-342900">
              <a:lnSpc>
                <a:spcPts val="2700"/>
              </a:lnSpc>
              <a:buFont typeface="Arial" panose="020B0604020202020204" pitchFamily="34" charset="0"/>
              <a:buChar char="•"/>
            </a:pPr>
            <a:r>
              <a:rPr lang="en-US" sz="2400" b="1" spc="270" dirty="0">
                <a:solidFill>
                  <a:srgbClr val="22263E"/>
                </a:solidFill>
                <a:latin typeface="Inter"/>
                <a:ea typeface="Inter"/>
                <a:cs typeface="Inter"/>
                <a:sym typeface="Inter"/>
              </a:rPr>
              <a:t>Include wheel odometry for better motion estimation.</a:t>
            </a:r>
          </a:p>
          <a:p>
            <a:pPr marL="994411" lvl="2" indent="-342900">
              <a:lnSpc>
                <a:spcPts val="2700"/>
              </a:lnSpc>
              <a:buFont typeface="Arial" panose="020B0604020202020204" pitchFamily="34" charset="0"/>
              <a:buChar char="•"/>
            </a:pPr>
            <a:endParaRPr lang="en-US" sz="2400" b="1" spc="270" dirty="0">
              <a:solidFill>
                <a:srgbClr val="22263E"/>
              </a:solidFill>
              <a:latin typeface="Inter"/>
              <a:ea typeface="Inter"/>
              <a:cs typeface="Inter"/>
              <a:sym typeface="Inter"/>
            </a:endParaRPr>
          </a:p>
          <a:p>
            <a:pPr marL="194311" lvl="1">
              <a:lnSpc>
                <a:spcPts val="2700"/>
              </a:lnSpc>
            </a:pPr>
            <a:r>
              <a:rPr lang="en-US" sz="2800" b="1" spc="270" dirty="0">
                <a:solidFill>
                  <a:srgbClr val="22263E"/>
                </a:solidFill>
                <a:latin typeface="Inter"/>
                <a:ea typeface="Inter"/>
                <a:cs typeface="Inter"/>
                <a:sym typeface="Inter"/>
              </a:rPr>
              <a:t>2. Multi-Obstacle Handling</a:t>
            </a:r>
          </a:p>
          <a:p>
            <a:pPr marL="194311" lvl="1">
              <a:lnSpc>
                <a:spcPts val="2700"/>
              </a:lnSpc>
            </a:pPr>
            <a:endParaRPr lang="en-US" sz="2800" b="1" spc="270" dirty="0">
              <a:solidFill>
                <a:srgbClr val="22263E"/>
              </a:solidFill>
              <a:latin typeface="Inter"/>
              <a:ea typeface="Inter"/>
              <a:cs typeface="Inter"/>
              <a:sym typeface="Inter"/>
            </a:endParaRPr>
          </a:p>
          <a:p>
            <a:pPr marL="1108711" lvl="2" indent="-457200">
              <a:lnSpc>
                <a:spcPts val="2700"/>
              </a:lnSpc>
              <a:buFont typeface="Arial" panose="020B0604020202020204" pitchFamily="34" charset="0"/>
              <a:buChar char="•"/>
            </a:pPr>
            <a:r>
              <a:rPr lang="en-US" sz="2400" b="1" spc="270" dirty="0">
                <a:solidFill>
                  <a:srgbClr val="22263E"/>
                </a:solidFill>
                <a:latin typeface="Inter"/>
                <a:ea typeface="Inter"/>
                <a:cs typeface="Inter"/>
                <a:sym typeface="Inter"/>
              </a:rPr>
              <a:t>Detect multiple </a:t>
            </a:r>
            <a:r>
              <a:rPr lang="en-US" sz="2400" b="1" spc="270" dirty="0" err="1">
                <a:solidFill>
                  <a:srgbClr val="22263E"/>
                </a:solidFill>
                <a:latin typeface="Inter"/>
                <a:ea typeface="Inter"/>
                <a:cs typeface="Inter"/>
                <a:sym typeface="Inter"/>
              </a:rPr>
              <a:t>Duckiebots</a:t>
            </a:r>
            <a:r>
              <a:rPr lang="en-US" sz="2400" b="1" spc="270" dirty="0">
                <a:solidFill>
                  <a:srgbClr val="22263E"/>
                </a:solidFill>
                <a:latin typeface="Inter"/>
                <a:ea typeface="Inter"/>
                <a:cs typeface="Inter"/>
                <a:sym typeface="Inter"/>
              </a:rPr>
              <a:t> simultaneously</a:t>
            </a:r>
          </a:p>
          <a:p>
            <a:pPr marL="1108711" lvl="2" indent="-457200">
              <a:lnSpc>
                <a:spcPts val="2700"/>
              </a:lnSpc>
              <a:buFont typeface="Arial" panose="020B0604020202020204" pitchFamily="34" charset="0"/>
              <a:buChar char="•"/>
            </a:pPr>
            <a:r>
              <a:rPr lang="en-US" sz="2400" b="1" spc="270" dirty="0">
                <a:solidFill>
                  <a:srgbClr val="22263E"/>
                </a:solidFill>
                <a:latin typeface="Inter"/>
                <a:ea typeface="Inter"/>
                <a:cs typeface="Inter"/>
                <a:sym typeface="Inter"/>
              </a:rPr>
              <a:t>Select safe passing direction dynamically (left/right)</a:t>
            </a:r>
          </a:p>
          <a:p>
            <a:pPr marL="1108711" lvl="2" indent="-457200">
              <a:lnSpc>
                <a:spcPts val="2700"/>
              </a:lnSpc>
              <a:buFont typeface="Arial" panose="020B0604020202020204" pitchFamily="34" charset="0"/>
              <a:buChar char="•"/>
            </a:pPr>
            <a:endParaRPr lang="en-US" sz="2400" b="1" spc="270" dirty="0">
              <a:solidFill>
                <a:srgbClr val="22263E"/>
              </a:solidFill>
              <a:latin typeface="Inter"/>
              <a:ea typeface="Inter"/>
              <a:cs typeface="Inter"/>
              <a:sym typeface="Inter"/>
            </a:endParaRPr>
          </a:p>
          <a:p>
            <a:pPr marL="194311" lvl="1">
              <a:lnSpc>
                <a:spcPts val="2700"/>
              </a:lnSpc>
            </a:pPr>
            <a:r>
              <a:rPr lang="en-US" sz="2800" b="1" spc="270" dirty="0">
                <a:solidFill>
                  <a:srgbClr val="22263E"/>
                </a:solidFill>
                <a:latin typeface="Inter"/>
                <a:ea typeface="Inter"/>
                <a:cs typeface="Inter"/>
                <a:sym typeface="Inter"/>
              </a:rPr>
              <a:t>3. Prediction of Moving Obstacles</a:t>
            </a:r>
          </a:p>
          <a:p>
            <a:pPr marL="194311" lvl="1">
              <a:lnSpc>
                <a:spcPts val="2700"/>
              </a:lnSpc>
            </a:pPr>
            <a:endParaRPr lang="en-US" sz="2800" b="1" spc="270" dirty="0">
              <a:solidFill>
                <a:srgbClr val="22263E"/>
              </a:solidFill>
              <a:latin typeface="Inter"/>
              <a:ea typeface="Inter"/>
              <a:cs typeface="Inter"/>
              <a:sym typeface="Inter"/>
            </a:endParaRPr>
          </a:p>
          <a:p>
            <a:pPr marL="1108711" lvl="2" indent="-457200">
              <a:lnSpc>
                <a:spcPts val="2700"/>
              </a:lnSpc>
              <a:buFont typeface="Arial" panose="020B0604020202020204" pitchFamily="34" charset="0"/>
              <a:buChar char="•"/>
            </a:pPr>
            <a:r>
              <a:rPr lang="en-US" sz="2400" b="1" spc="270" dirty="0">
                <a:solidFill>
                  <a:srgbClr val="22263E"/>
                </a:solidFill>
                <a:latin typeface="Inter"/>
                <a:ea typeface="Inter"/>
                <a:cs typeface="Inter"/>
                <a:sym typeface="Inter"/>
              </a:rPr>
              <a:t>Extend the vision system to track moving </a:t>
            </a:r>
            <a:r>
              <a:rPr lang="en-US" sz="2400" b="1" spc="270" dirty="0" err="1">
                <a:solidFill>
                  <a:srgbClr val="22263E"/>
                </a:solidFill>
                <a:latin typeface="Inter"/>
                <a:ea typeface="Inter"/>
                <a:cs typeface="Inter"/>
                <a:sym typeface="Inter"/>
              </a:rPr>
              <a:t>Duckiebots</a:t>
            </a:r>
            <a:r>
              <a:rPr lang="en-US" sz="2400" b="1" spc="270" dirty="0">
                <a:solidFill>
                  <a:srgbClr val="22263E"/>
                </a:solidFill>
                <a:latin typeface="Inter"/>
                <a:ea typeface="Inter"/>
                <a:cs typeface="Inter"/>
                <a:sym typeface="Inter"/>
              </a:rPr>
              <a:t> over time</a:t>
            </a:r>
          </a:p>
          <a:p>
            <a:pPr marL="1108711" lvl="2" indent="-457200">
              <a:lnSpc>
                <a:spcPts val="2700"/>
              </a:lnSpc>
              <a:buFont typeface="Arial" panose="020B0604020202020204" pitchFamily="34" charset="0"/>
              <a:buChar char="•"/>
            </a:pPr>
            <a:r>
              <a:rPr lang="en-US" sz="2400" b="1" spc="270" dirty="0">
                <a:solidFill>
                  <a:srgbClr val="22263E"/>
                </a:solidFill>
                <a:latin typeface="Inter"/>
                <a:ea typeface="Inter"/>
                <a:cs typeface="Inter"/>
                <a:sym typeface="Inter"/>
              </a:rPr>
              <a:t>Estimate relative velocity and heading direction.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3777"/>
            </a:stretch>
          </a:blipFill>
        </p:spPr>
      </p:sp>
      <p:grpSp>
        <p:nvGrpSpPr>
          <p:cNvPr id="3" name="Group 3"/>
          <p:cNvGrpSpPr/>
          <p:nvPr/>
        </p:nvGrpSpPr>
        <p:grpSpPr>
          <a:xfrm rot="-2211212">
            <a:off x="6399109" y="-3627896"/>
            <a:ext cx="12331803" cy="9917211"/>
            <a:chOff x="0" y="0"/>
            <a:chExt cx="3010359" cy="242092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010359" cy="2420925"/>
            </a:xfrm>
            <a:custGeom>
              <a:avLst/>
              <a:gdLst/>
              <a:ahLst/>
              <a:cxnLst/>
              <a:rect l="l" t="t" r="r" b="b"/>
              <a:pathLst>
                <a:path w="3010359" h="2420925">
                  <a:moveTo>
                    <a:pt x="37668" y="0"/>
                  </a:moveTo>
                  <a:lnTo>
                    <a:pt x="2972691" y="0"/>
                  </a:lnTo>
                  <a:cubicBezTo>
                    <a:pt x="2993495" y="0"/>
                    <a:pt x="3010359" y="16865"/>
                    <a:pt x="3010359" y="37668"/>
                  </a:cubicBezTo>
                  <a:lnTo>
                    <a:pt x="3010359" y="2383257"/>
                  </a:lnTo>
                  <a:cubicBezTo>
                    <a:pt x="3010359" y="2404060"/>
                    <a:pt x="2993495" y="2420925"/>
                    <a:pt x="2972691" y="2420925"/>
                  </a:cubicBezTo>
                  <a:lnTo>
                    <a:pt x="37668" y="2420925"/>
                  </a:lnTo>
                  <a:cubicBezTo>
                    <a:pt x="16865" y="2420925"/>
                    <a:pt x="0" y="2404060"/>
                    <a:pt x="0" y="2383257"/>
                  </a:cubicBezTo>
                  <a:lnTo>
                    <a:pt x="0" y="37668"/>
                  </a:lnTo>
                  <a:cubicBezTo>
                    <a:pt x="0" y="16865"/>
                    <a:pt x="16865" y="0"/>
                    <a:pt x="37668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9FA5C8">
                    <a:alpha val="80000"/>
                  </a:srgbClr>
                </a:gs>
                <a:gs pos="100000">
                  <a:srgbClr val="9FA5C8">
                    <a:alpha val="0"/>
                  </a:srgbClr>
                </a:gs>
              </a:gsLst>
              <a:lin ang="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3010359" cy="2468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 rot="-2211212">
            <a:off x="-4050422" y="-2470224"/>
            <a:ext cx="13638917" cy="14619563"/>
            <a:chOff x="0" y="0"/>
            <a:chExt cx="3329443" cy="356883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329443" cy="3568832"/>
            </a:xfrm>
            <a:custGeom>
              <a:avLst/>
              <a:gdLst/>
              <a:ahLst/>
              <a:cxnLst/>
              <a:rect l="l" t="t" r="r" b="b"/>
              <a:pathLst>
                <a:path w="3329443" h="3568832">
                  <a:moveTo>
                    <a:pt x="34058" y="0"/>
                  </a:moveTo>
                  <a:lnTo>
                    <a:pt x="3295385" y="0"/>
                  </a:lnTo>
                  <a:cubicBezTo>
                    <a:pt x="3304418" y="0"/>
                    <a:pt x="3313081" y="3588"/>
                    <a:pt x="3319468" y="9975"/>
                  </a:cubicBezTo>
                  <a:cubicBezTo>
                    <a:pt x="3325855" y="16363"/>
                    <a:pt x="3329443" y="25025"/>
                    <a:pt x="3329443" y="34058"/>
                  </a:cubicBezTo>
                  <a:lnTo>
                    <a:pt x="3329443" y="3534774"/>
                  </a:lnTo>
                  <a:cubicBezTo>
                    <a:pt x="3329443" y="3543807"/>
                    <a:pt x="3325855" y="3552470"/>
                    <a:pt x="3319468" y="3558857"/>
                  </a:cubicBezTo>
                  <a:cubicBezTo>
                    <a:pt x="3313081" y="3565244"/>
                    <a:pt x="3304418" y="3568832"/>
                    <a:pt x="3295385" y="3568832"/>
                  </a:cubicBezTo>
                  <a:lnTo>
                    <a:pt x="34058" y="3568832"/>
                  </a:lnTo>
                  <a:cubicBezTo>
                    <a:pt x="25025" y="3568832"/>
                    <a:pt x="16363" y="3565244"/>
                    <a:pt x="9975" y="3558857"/>
                  </a:cubicBezTo>
                  <a:cubicBezTo>
                    <a:pt x="3588" y="3552470"/>
                    <a:pt x="0" y="3543807"/>
                    <a:pt x="0" y="3534774"/>
                  </a:cubicBezTo>
                  <a:lnTo>
                    <a:pt x="0" y="34058"/>
                  </a:lnTo>
                  <a:cubicBezTo>
                    <a:pt x="0" y="25025"/>
                    <a:pt x="3588" y="16363"/>
                    <a:pt x="9975" y="9975"/>
                  </a:cubicBezTo>
                  <a:cubicBezTo>
                    <a:pt x="16363" y="3588"/>
                    <a:pt x="25025" y="0"/>
                    <a:pt x="34058" y="0"/>
                  </a:cubicBezTo>
                  <a:close/>
                </a:path>
              </a:pathLst>
            </a:custGeom>
            <a:solidFill>
              <a:srgbClr val="F7F8FA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3329443" cy="36164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 rot="-2211212">
            <a:off x="8281436" y="-8517903"/>
            <a:ext cx="12243504" cy="12243504"/>
            <a:chOff x="0" y="0"/>
            <a:chExt cx="2988804" cy="298880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988804" cy="2988804"/>
            </a:xfrm>
            <a:custGeom>
              <a:avLst/>
              <a:gdLst/>
              <a:ahLst/>
              <a:cxnLst/>
              <a:rect l="l" t="t" r="r" b="b"/>
              <a:pathLst>
                <a:path w="2988804" h="2988804">
                  <a:moveTo>
                    <a:pt x="37940" y="0"/>
                  </a:moveTo>
                  <a:lnTo>
                    <a:pt x="2950864" y="0"/>
                  </a:lnTo>
                  <a:cubicBezTo>
                    <a:pt x="2971818" y="0"/>
                    <a:pt x="2988804" y="16986"/>
                    <a:pt x="2988804" y="37940"/>
                  </a:cubicBezTo>
                  <a:lnTo>
                    <a:pt x="2988804" y="2950864"/>
                  </a:lnTo>
                  <a:cubicBezTo>
                    <a:pt x="2988804" y="2960927"/>
                    <a:pt x="2984807" y="2970577"/>
                    <a:pt x="2977692" y="2977692"/>
                  </a:cubicBezTo>
                  <a:cubicBezTo>
                    <a:pt x="2970577" y="2984807"/>
                    <a:pt x="2960927" y="2988804"/>
                    <a:pt x="2950864" y="2988804"/>
                  </a:cubicBezTo>
                  <a:lnTo>
                    <a:pt x="37940" y="2988804"/>
                  </a:lnTo>
                  <a:cubicBezTo>
                    <a:pt x="27877" y="2988804"/>
                    <a:pt x="18227" y="2984807"/>
                    <a:pt x="11112" y="2977692"/>
                  </a:cubicBezTo>
                  <a:cubicBezTo>
                    <a:pt x="3997" y="2970577"/>
                    <a:pt x="0" y="2960927"/>
                    <a:pt x="0" y="2950864"/>
                  </a:cubicBezTo>
                  <a:lnTo>
                    <a:pt x="0" y="37940"/>
                  </a:lnTo>
                  <a:cubicBezTo>
                    <a:pt x="0" y="27877"/>
                    <a:pt x="3997" y="18227"/>
                    <a:pt x="11112" y="11112"/>
                  </a:cubicBezTo>
                  <a:cubicBezTo>
                    <a:pt x="18227" y="3997"/>
                    <a:pt x="27877" y="0"/>
                    <a:pt x="37940" y="0"/>
                  </a:cubicBezTo>
                  <a:close/>
                </a:path>
              </a:pathLst>
            </a:custGeom>
            <a:solidFill>
              <a:srgbClr val="F7F8FA">
                <a:alpha val="69804"/>
              </a:srgbClr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2988804" cy="303642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 rot="-2211212">
            <a:off x="9360382" y="-6261112"/>
            <a:ext cx="9450317" cy="9748779"/>
            <a:chOff x="0" y="0"/>
            <a:chExt cx="2306950" cy="237980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306950" cy="2379808"/>
            </a:xfrm>
            <a:custGeom>
              <a:avLst/>
              <a:gdLst/>
              <a:ahLst/>
              <a:cxnLst/>
              <a:rect l="l" t="t" r="r" b="b"/>
              <a:pathLst>
                <a:path w="2306950" h="2379808">
                  <a:moveTo>
                    <a:pt x="49153" y="0"/>
                  </a:moveTo>
                  <a:lnTo>
                    <a:pt x="2257796" y="0"/>
                  </a:lnTo>
                  <a:cubicBezTo>
                    <a:pt x="2284943" y="0"/>
                    <a:pt x="2306950" y="22007"/>
                    <a:pt x="2306950" y="49153"/>
                  </a:cubicBezTo>
                  <a:lnTo>
                    <a:pt x="2306950" y="2330655"/>
                  </a:lnTo>
                  <a:cubicBezTo>
                    <a:pt x="2306950" y="2357801"/>
                    <a:pt x="2284943" y="2379808"/>
                    <a:pt x="2257796" y="2379808"/>
                  </a:cubicBezTo>
                  <a:lnTo>
                    <a:pt x="49153" y="2379808"/>
                  </a:lnTo>
                  <a:cubicBezTo>
                    <a:pt x="22007" y="2379808"/>
                    <a:pt x="0" y="2357801"/>
                    <a:pt x="0" y="2330655"/>
                  </a:cubicBezTo>
                  <a:lnTo>
                    <a:pt x="0" y="49153"/>
                  </a:lnTo>
                  <a:cubicBezTo>
                    <a:pt x="0" y="22007"/>
                    <a:pt x="22007" y="0"/>
                    <a:pt x="4915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6200" cap="rnd">
              <a:solidFill>
                <a:srgbClr val="4B548B"/>
              </a:solidFill>
              <a:prstDash val="solid"/>
              <a:round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2306950" cy="242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>
            <a:off x="16840513" y="8842670"/>
            <a:ext cx="418787" cy="418787"/>
          </a:xfrm>
          <a:custGeom>
            <a:avLst/>
            <a:gdLst/>
            <a:ahLst/>
            <a:cxnLst/>
            <a:rect l="l" t="t" r="r" b="b"/>
            <a:pathLst>
              <a:path w="418787" h="418787">
                <a:moveTo>
                  <a:pt x="0" y="0"/>
                </a:moveTo>
                <a:lnTo>
                  <a:pt x="418787" y="0"/>
                </a:lnTo>
                <a:lnTo>
                  <a:pt x="418787" y="418786"/>
                </a:lnTo>
                <a:lnTo>
                  <a:pt x="0" y="41878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 flipH="1">
            <a:off x="16281075" y="8842670"/>
            <a:ext cx="418787" cy="418787"/>
          </a:xfrm>
          <a:custGeom>
            <a:avLst/>
            <a:gdLst/>
            <a:ahLst/>
            <a:cxnLst/>
            <a:rect l="l" t="t" r="r" b="b"/>
            <a:pathLst>
              <a:path w="418787" h="418787">
                <a:moveTo>
                  <a:pt x="418787" y="0"/>
                </a:moveTo>
                <a:lnTo>
                  <a:pt x="0" y="0"/>
                </a:lnTo>
                <a:lnTo>
                  <a:pt x="0" y="418786"/>
                </a:lnTo>
                <a:lnTo>
                  <a:pt x="418787" y="418786"/>
                </a:lnTo>
                <a:lnTo>
                  <a:pt x="418787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1028700" y="3220308"/>
            <a:ext cx="9864558" cy="161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2000"/>
              </a:lnSpc>
            </a:pPr>
            <a:r>
              <a:rPr lang="en-US" sz="12000" b="1" spc="240">
                <a:solidFill>
                  <a:srgbClr val="22263E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</TotalTime>
  <Words>812</Words>
  <Application>Microsoft Office PowerPoint</Application>
  <PresentationFormat>Custom</PresentationFormat>
  <Paragraphs>156</Paragraphs>
  <Slides>19</Slides>
  <Notes>1</Notes>
  <HiddenSlides>0</HiddenSlides>
  <MMClips>4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Glacial Indifference Bold</vt:lpstr>
      <vt:lpstr>Inter</vt:lpstr>
      <vt:lpstr>Inter Bold</vt:lpstr>
      <vt:lpstr>League Spartan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Avoiding obstacles</dc:title>
  <cp:lastModifiedBy>tazwar siddique</cp:lastModifiedBy>
  <cp:revision>9</cp:revision>
  <dcterms:created xsi:type="dcterms:W3CDTF">2006-08-16T00:00:00Z</dcterms:created>
  <dcterms:modified xsi:type="dcterms:W3CDTF">2025-12-11T01:03:03Z</dcterms:modified>
  <dc:identifier>DAG6puDpStw</dc:identifier>
</cp:coreProperties>
</file>